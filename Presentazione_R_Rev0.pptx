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3" roundtripDataSignature="AMtx7mh9cwbLoQqMyyOZ7wmILiskt19K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23" Type="http://customschemas.google.com/relationships/presentationmetadata" Target="metadata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97dadfa2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97dadfa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97dadfa2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997dadfa2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97dadfa2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97dadfa2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97dadfa2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997dadfa2f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97dadfa2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97dadfa2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97dadfa2f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97dadfa2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4acc6da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a4acc6da9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4acc6da9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4acc6da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4acc6da9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4acc6da9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4acc6da9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4acc6da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4acc6da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## SLIDE: Vettori - Creazione e Coercizione</a:t>
            </a:r>
            <a:endParaRPr b="1"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 in cosa consistono esattamente i vettori? Come si creano?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 vettori in R vengono definiti con la funzione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**c()**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che sta per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**combine**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combinare. È la funzione base per creare sequenze di elementi dello stesso tipo.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Vediamo tutta una serie di esempi pratici qui nel primo blocco.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**Vorrei la vostra attenzione in particolare sulle righe 2 e 3**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che sostanzialmente fanno proprio la stessa cosa.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La riga 2 definisce un vettore che contiene esplicitamente i numeri da 4 a 8: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`c(4, 5, 6, 7, 8)`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La riga 3 invece usa quello che in gergo tecnico si chiama "zucchero sintattico" - una versione più rapida, uno shortcut: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`4:8`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Questa sintassi con i due punti rappresenta automaticamente tutti i numeri contenuti in un certo intervallo, estremi inclusi.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Quindi le righe 2 e 3 producono esattamente lo stesso risultato.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**Notate come R identifichi automaticamente la tipologia di vettore**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Nei primi casi - righe 1 e 2 - parliamo di dati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**numeric**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numerici.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Alla riga 3 invece vediamo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**integer**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interi. Qual è la differenza? Il tipo integer è più specifico e occupa meno memoria. La riga 4 mostra come forzare esplicitamente la creazione di interi usando la L dopo ogni numero: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`4L, 5L, 6L`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La riga 5 mostra numeri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**complex**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numeri complessi con parte reale e immaginaria.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Alla riga 6 abbiamo un vettore di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**character**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dati testuali, sempre tra virgolette.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Nelle ultime due righe - 7 e 8 - parliamo di dati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**buleani o logici**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quindi variabili dicotomiche che valgono solo TRUE o FALSE. Entrambe le forme sono valide: potete scrivere per esteso TRUE e FALSE, oppure usare le abbreviazioni T e F.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**Attenzione importante**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R è un linguaggio cosiddetto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**case-sensitive**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Questo significa che il maiuscolo e la lettera minuscola fanno la differenza. TRUE e FALSE vanno scritti rispettivamente solo in questi due modi - tutto maiuscolo - oppure con le abbreviazioni T e F maiuscole. Se scrivete "true" minuscolo, R non lo riconoscerà come valore logico.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**La particolarità della coercizione**</a:t>
            </a:r>
            <a:endParaRPr b="1"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Ora, c'è una particolarità molto importante dei vettori che dovete conoscere: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**i vettori devono contenere solo ed esclusivamente dati del medesimo tipo**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 cosa succede se cercate di forzare dei valori che sono di fatto di tipi diversi nello stesso vettore?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 effettua un'operazione che si chiama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**coercizione automatica**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Questa operazione permette alla macchina, in maniera del tutto automatica, di cercare di preservare quanta più informazione possibile, pur mantenendo e soddisfacendo il vincolo che tutti gli elementi devono essere dello stesso tipo.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Vediamo gli esempi concreti nel secondo blocco.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**Esempio 1**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`c(1.7, "ciao")`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mescoliamo un numero e una stringa di testo. Cosa fa R? Converte tutto in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**character**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Il numero 1.7 diventa la stringa di testo "1.7" con le virgolette.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**Esempio 2**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`c(TRUE, 8)`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mescoliamo un valore logico e un numero. R converte tutto in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**numeric**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Il valore TRUE diventa il numero 1, FALSE diventerebbe 0.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**Esempio 3**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`c("ciao", TRUE)`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- mescoliamo testo e valore logico. R converte tutto in </a:t>
            </a: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**character**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 Il valore buleano viene rimpiazzato letteralmente dalla parola "TRUE" scritta con le lettere maiuscole, tra virgolette.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**La gerarchia di coercizione**</a:t>
            </a:r>
            <a:endParaRPr b="1"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C'è una gerarchia precisa che R segue: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**logical → numeric → character**</a:t>
            </a:r>
            <a:endParaRPr b="1"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Il tipo più "generale" vince. Character può rappresentare qualsiasi cosa - numeri, parole, valori logici - quindi se c'è anche solo una stringa di testo nel vettore, tutto diventa character.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Numeric può rappresentare sia numeri che valori logici (TRUE=1, FALSE=0), quindi se mescolate numeri e logici, tutto diventa numeric.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Questa coercizione automatica è comoda, ma può anche causare problemi se non ve ne accorgete. Per esempio, se importate dati da un file e c'è un errore di battitura - una lettera dove dovrebbe esserci un numero - l'intera colonna potrebbe diventare character invece di numeric, e non potrete più fare calcoli matematici.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Quindi è importante essere consapevoli di questo meccanismo e verificare sempre il tipo dei vostri dati dopo averli caricati o creati.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**In sintesi**</a:t>
            </a:r>
            <a:endParaRPr b="1"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 vettori sono la struttura base di R. Si creano con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`c()`</a:t>
            </a:r>
            <a:r>
              <a:rPr lang="en-US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possono contenere solo elementi dello stesso tipo, e R applica coercizione automatica se mescolate tipi diversi, seguendo la gerarchia logical → numeric → character.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4acc6da9c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54417639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a54417639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54417639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544176397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5441763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54417639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441763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54417639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4417639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a544176397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54417639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a54417639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54417639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a544176397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54417639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a544176397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544176397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54417639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544176397_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544176397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5a5b23e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a5a5b23e9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5a5b23e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a5a5b23e9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5a5b23e9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a5a5b23e9e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5a5b23e9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a5a5b23e9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5a5b23e9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a5a5b23e9e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5a5b23e9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a5a5b23e9e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5a5b23e9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a5a5b23e9e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5a5b23e9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a5a5b23e9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5a5b23e9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a5a5b23e9e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5a5b23e9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a5a5b23e9e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a5a5b23e9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a5a5b23e9e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5a5b23e9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a5a5b23e9e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5a5b23e9e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a5a5b23e9e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5a5b23e9e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5a5b23e9e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bc4445f0a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bc4445f0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bc4445f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abc4445f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bc4445f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abc4445f0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bc4445f0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abc4445f0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bc4445f0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abc4445f0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bc4445f0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abc4445f0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abc4445f0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abc4445f0a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bc4445f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abc4445f0a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bc4445f0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abc4445f0a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bc4445f0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abc4445f0a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bc4445f0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abc4445f0a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bc4445f0a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abc4445f0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abc4445f0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abc4445f0a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bc4445f0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abc4445f0a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abc4445f0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abc4445f0a_0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bc4445f0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abc4445f0a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bc4445f0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abc4445f0a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abc4445f0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abc4445f0a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bc4445f0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abc4445f0a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abc4445f0a_0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abc4445f0a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aca3b402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aca3b402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ca3b402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aca3b402e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ca3b402e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aca3b402e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aca3b402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aca3b402e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ca3b402e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aca3b402e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aca3b402e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aca3b402e2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aca3b402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aca3b402e2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aca3b402e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aca3b402e2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aca3b402e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aca3b402e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ca3b402e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3aca3b402e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aca3b402e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aca3b402e2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aca3b402e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aca3b402e2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acb3b54fa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acb3b54f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acb3b54f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acb3b54fa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acb3b54f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3acb3b54fa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acb3b54fa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acb3b54fa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acb3b54f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g3acb3b54fa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acb3b54fa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acb3b54fa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acb3b54fa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acb3b54fab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acb3b54fa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g3acb3b54fab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acb3b54fa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acb3b54fab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acb3b54fa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g3acb3b54fab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acb3b54fa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acb3b54fab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cb3b54fab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acb3b54fa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d078e7a4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g3ad078e7a4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ad078e7a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ad078e7a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bc4445f0a_0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abc4445f0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abc4445f0a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abc4445f0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d078e7a4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ad078e7a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ad078e7a4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3ad078e7a4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ad078e7a4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ad078e7a43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ad078e7a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g3ad078e7a43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ad078e7a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ad078e7a43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ad078e7a4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ad078e7a43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ad078e7a4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ad078e7a43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ad078e7a4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ad078e7a43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ad078e7a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g3ad078e7a43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ad078e7a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ad078e7a43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ad078e7a4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g3ad078e7a43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ad078e7a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3ad078e7a43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ad078e7a4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g3ad078e7a43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ad078e7a4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ad078e7a43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google.com/search?q=download+r&amp;oq=download+r&amp;gs_lcrp=EgZjaHJvbWUyDwgAEEUYORiDARixAxiABDIOCAEQRRgnGDsYgAQYigUyCggCEAAYsQMYgAQyBwgDEAAYgAQyCggEEAAYsQMYgAQyBggFEEUYPDIGCAYQRRg8MgYIBxBFGDzSAQgzNDQ3ajBqN6gCCLACAfEFtmQB6zK7CY8&amp;sourceid=chrome&amp;ie=UTF-8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ran.r-project.org/bin/windows/base/md5sum.R-4.5.2.txt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://r4stats.com/examples/graphics-ggplot2/" TargetMode="External"/><Relationship Id="rId4" Type="http://schemas.openxmlformats.org/officeDocument/2006/relationships/hyperlink" Target="https://r4stats.com/books/downloads/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5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Introduzione a R e RStudio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3840480"/>
            <a:ext cx="7315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Esercitazione del </a:t>
            </a:r>
            <a:br>
              <a:rPr lang="en-US" sz="24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Corso di </a:t>
            </a:r>
            <a:endParaRPr b="0" i="0" sz="2400" u="none" cap="none" strike="noStrike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METODI DI APPRENDIMENTO STATISTICO PER IL DATA SCIENCE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Università degli Studi di Cagliari</a:t>
            </a:r>
            <a:endParaRPr b="0" i="1" sz="2000" u="none" cap="none" strike="noStrike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Fausto Camboni                                   </a:t>
            </a:r>
            <a:endParaRPr i="1" sz="2000">
              <a:solidFill>
                <a:srgbClr val="6464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Cos'è R e cos'è RStudio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R: linguaggio di programmazione open source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Nato negli anni '90 per analisi statistica e grafica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 degli strumenti più usati da statistici e data scientist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RStudio: ambiente di sviluppo integrato (IDE)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Interfaccia moderna e user-friendly per utilizzare 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Organizza e semplifica il lavoro quotidiano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Entrambi completamente gratuiti e multipiattaforma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 per Windows, Mac e Linux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solidFill>
            <a:srgbClr val="FFFAC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Ordine di installazione: prima R (da CRAN), poi RStudio (da Posit)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997dadfa2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38" y="1557550"/>
            <a:ext cx="8517725" cy="35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Procedura di installazione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40080" y="1188720"/>
            <a:ext cx="7863900" cy="5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Passo 1: Installare R - </a:t>
            </a:r>
            <a:r>
              <a:rPr b="1" i="1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i="1"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Aprire un browser (Chrome, Firefox, Safari...)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Digitare 'download R' su Google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Accedere al sito CRAN (Comprehensive R Archive Network)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Scaricare l'eseguibile per il proprio sistema operativo</a:t>
            </a: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Verificare l’eseguibile</a:t>
            </a:r>
            <a:b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certUtil -hashfile pathToFileToCheck MD5 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Eseguire l'installazione accettando le impostazioni predefinite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Passo 2: Installare RStudio </a:t>
            </a: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Digitare 'download RStudio' su Google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Accedere al sito Posit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Scaricare RStudio Desktop (versione gratuita)</a:t>
            </a: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Verificare l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’eseguibile</a:t>
            </a:r>
            <a:b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certUtil -hashfile pathToFileToCheck SHA256 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Installare seguendo le istruzioni standard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97dadfa2f_0_4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Procedura di installazione </a:t>
            </a: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- R</a:t>
            </a:r>
            <a:endParaRPr/>
          </a:p>
        </p:txBody>
      </p:sp>
      <p:pic>
        <p:nvPicPr>
          <p:cNvPr id="109" name="Google Shape;109;g3997dadfa2f_0_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14408"/>
            <a:ext cx="8839198" cy="249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997dadfa2f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500" y="3420944"/>
            <a:ext cx="7490997" cy="295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97dadfa2f_0_12"/>
          <p:cNvSpPr txBox="1"/>
          <p:nvPr/>
        </p:nvSpPr>
        <p:spPr>
          <a:xfrm>
            <a:off x="2238750" y="2852275"/>
            <a:ext cx="466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bc35c78e0a6c9790d7d540b44089f31f *R-4.5.2-win.exe</a:t>
            </a:r>
            <a:endParaRPr/>
          </a:p>
        </p:txBody>
      </p:sp>
      <p:pic>
        <p:nvPicPr>
          <p:cNvPr id="116" name="Google Shape;116;g3997dadfa2f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4438" y="1568050"/>
            <a:ext cx="37433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997dadfa2f_0_12"/>
          <p:cNvSpPr txBox="1"/>
          <p:nvPr/>
        </p:nvSpPr>
        <p:spPr>
          <a:xfrm>
            <a:off x="593525" y="378175"/>
            <a:ext cx="806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Procedura di installazione - verifica eseguibile</a:t>
            </a:r>
            <a:endParaRPr/>
          </a:p>
        </p:txBody>
      </p:sp>
      <p:sp>
        <p:nvSpPr>
          <p:cNvPr id="118" name="Google Shape;118;g3997dadfa2f_0_12"/>
          <p:cNvSpPr txBox="1"/>
          <p:nvPr/>
        </p:nvSpPr>
        <p:spPr>
          <a:xfrm>
            <a:off x="2574450" y="4266350"/>
            <a:ext cx="429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CMD</a:t>
            </a:r>
            <a:b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000">
              <a:solidFill>
                <a:srgbClr val="0C0D0E"/>
              </a:solidFill>
              <a:highlight>
                <a:srgbClr val="F6F6F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C0D0E"/>
              </a:solidFill>
              <a:highlight>
                <a:srgbClr val="F6F6F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certUtil -hashfile </a:t>
            </a: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R-4.5.2-win.exe</a:t>
            </a:r>
            <a:r>
              <a:rPr lang="en-US" sz="1000">
                <a:solidFill>
                  <a:srgbClr val="0C0D0E"/>
                </a:solidFill>
                <a:highlight>
                  <a:srgbClr val="F6F6F6"/>
                </a:highlight>
                <a:latin typeface="Courier New"/>
                <a:ea typeface="Courier New"/>
                <a:cs typeface="Courier New"/>
                <a:sym typeface="Courier New"/>
              </a:rPr>
              <a:t> MD5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Interfaccia di RStudio - Le 4 finestre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48640" y="1188720"/>
            <a:ext cx="3840480" cy="2103120"/>
          </a:xfrm>
          <a:prstGeom prst="rect">
            <a:avLst/>
          </a:prstGeom>
          <a:solidFill>
            <a:srgbClr val="000080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SCRIPT (alto sinistra)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Qui si scrive il codice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File → New File → R Script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Esegui: Run o Ctrl+Invio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Il codice rimane salvato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Es 1+1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54880" y="1188720"/>
            <a:ext cx="3840480" cy="2103120"/>
          </a:xfrm>
          <a:prstGeom prst="rect">
            <a:avLst/>
          </a:prstGeom>
          <a:solidFill>
            <a:srgbClr val="464646"/>
          </a:solidFill>
          <a:ln cap="flat" cmpd="sng" w="2540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ENVIRONMENT (alto destra)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Visualizza variabili create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Mostra oggetti in memoria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Icona 🧹 pulisce tutto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Import Dataset disponibile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48640" y="3566160"/>
            <a:ext cx="3840480" cy="2103120"/>
          </a:xfrm>
          <a:prstGeom prst="rect">
            <a:avLst/>
          </a:prstGeom>
          <a:solidFill>
            <a:srgbClr val="C864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CONSOLE (basso sinistra)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Esegue i comandi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Mostra risultati/output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Codice 'al volo'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Prompt: &gt;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754880" y="3566160"/>
            <a:ext cx="3840480" cy="210312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UTILITÀ (basso destra)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Files: cartelle di lavoro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Plots: visualizza grafici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Packages: gestisce librerie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Help: documentazione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914400" y="5943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Tip: Lo script è il vostro 'quaderno' - scrivete sempre qui, non solo in console!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97dadfa2f_0_25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Interfaccia di RStudio - Le 4 finestre</a:t>
            </a:r>
            <a:endParaRPr/>
          </a:p>
        </p:txBody>
      </p:sp>
      <p:sp>
        <p:nvSpPr>
          <p:cNvPr id="134" name="Google Shape;134;g3997dadfa2f_0_25"/>
          <p:cNvSpPr txBox="1"/>
          <p:nvPr/>
        </p:nvSpPr>
        <p:spPr>
          <a:xfrm>
            <a:off x="914400" y="5943600"/>
            <a:ext cx="731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Tip: Lo script è il vostro 'quaderno' - scrivete sempre qui, non solo in console!</a:t>
            </a:r>
            <a:endParaRPr/>
          </a:p>
        </p:txBody>
      </p:sp>
      <p:pic>
        <p:nvPicPr>
          <p:cNvPr id="135" name="Google Shape;135;g3997dadfa2f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75" y="1224660"/>
            <a:ext cx="8786675" cy="4718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97dadfa2f_0_35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97dadfa2f_0_39"/>
          <p:cNvSpPr txBox="1"/>
          <p:nvPr/>
        </p:nvSpPr>
        <p:spPr>
          <a:xfrm>
            <a:off x="3533875" y="188775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locco 2</a:t>
            </a:r>
            <a:endParaRPr/>
          </a:p>
        </p:txBody>
      </p:sp>
      <p:sp>
        <p:nvSpPr>
          <p:cNvPr id="146" name="Google Shape;146;g3997dadfa2f_0_39"/>
          <p:cNvSpPr txBox="1"/>
          <p:nvPr/>
        </p:nvSpPr>
        <p:spPr>
          <a:xfrm>
            <a:off x="1258375" y="1447075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endParaRPr b="1" sz="22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Concetti base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Workspace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Librerie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Assegnazione e commenti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Valori mancanti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Salvare e caricare i dati</a:t>
            </a:r>
            <a:endParaRPr b="1" sz="22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Working Directory - La cartella di lavoro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Cos'è la Working Directory?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Cartella fisica del computer dove sono salvati i file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script, dati e output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RStudio la imposta automaticamente sulla cartella del file aperto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Comandi principali: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getwd()              # Visualizza directory corrente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setwd("/percorso")   # Imposta nuova directory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list.files()         # Elenca file nella directory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914400" y="4754880"/>
            <a:ext cx="7315200" cy="109728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📁 Oppure in RStudio: Session → Set Working Directory → Choose Directory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Working Directory si vede anche nella scheda Files (in basso a destra)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Workspace - L'ambiente di lavoro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Cos'è la Workspace?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Memoria virtuale (RAM) del computer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tutte le variabili e oggetti creati durante la sessione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Visibile nella finestra Environment (alto destra)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Comandi di gestione: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ls()                 # Lista tutti gli oggetti in memoria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rm(x)                # Rimuove la variabile x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rm(x, y, z)          # Rimuove più variabili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rm(list = ls())      # CANCELLA TUTTO (⚠️ attenzione!)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1371600" y="4689010"/>
            <a:ext cx="6400800" cy="5850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In RStudio: cliccare l'icona 🧹 (scopetta) per pulire tutta la workspace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371600" y="5423051"/>
            <a:ext cx="6400800" cy="800400"/>
          </a:xfrm>
          <a:prstGeom prst="rect">
            <a:avLst/>
          </a:prstGeom>
          <a:solidFill>
            <a:srgbClr val="E6FFE6"/>
          </a:solidFill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Anche in questo caso tutte le funzioni sono altresì presenti in R Studio e quindi non vi dovrete ricordare certo tutti questi comandi a memoria</a:t>
            </a:r>
            <a:endParaRPr i="1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Librerie e Pacchetti - Estendere le funzionalità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Cosa sono le librerie?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Pacchetti aggiuntivi che estendono le funzionalità base di 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dalla comunità globale (ricercatori, sviluppatori)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Migliaia di pacchetti disponibili gratuitamente su CRAN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Installata vs Caricata - Differenza fondamentale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1097280" y="3840480"/>
            <a:ext cx="6949440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6400"/>
                </a:solidFill>
                <a:latin typeface="Calibri"/>
                <a:ea typeface="Calibri"/>
                <a:cs typeface="Calibri"/>
                <a:sym typeface="Calibri"/>
              </a:rPr>
              <a:t>INSTALLATA (come scaricare un'app)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 file sono sul computer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 fa UNA VOLTA SOLA (o per aggiornare)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b="1" i="0" lang="en-US" sz="1600" u="none" cap="none" strike="noStrike">
                <a:solidFill>
                  <a:srgbClr val="00009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00096"/>
                </a:solidFill>
                <a:latin typeface="Calibri"/>
                <a:ea typeface="Calibri"/>
                <a:cs typeface="Calibri"/>
                <a:sym typeface="Calibri"/>
              </a:rPr>
              <a:t>CARICATA (come aprire l'app)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 funzioni sono disponibili in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 fa OGNI VOLTA che si apre RStudio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Librerie - Comandi pratici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640080" y="1188720"/>
            <a:ext cx="7863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Installare una libreria:</a:t>
            </a:r>
            <a:endParaRPr/>
          </a:p>
          <a:p>
            <a:pPr indent="0" lvl="0" marL="0" marR="0" rtl="0" algn="l">
              <a:spcBef>
                <a:spcPts val="40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Caricare una libreria: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install.packages("ggplot2")  # Installa il pacchetto ggplot2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install.packages("dplyr")    # Installa il pacchetto dplyr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library(ggplot2)     # Carica il pacchetto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oppure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require(ggplot2)     # Fa la stessa cosa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914400" y="4297680"/>
            <a:ext cx="7315200" cy="137160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In RStudio (modo grafico):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Installare: scheda Packages → Install → digitare nome pacchetto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Caricare: scheda Packages → spuntare la checkbox del pacchetto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Variabili e Assegnazione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640080" y="1188720"/>
            <a:ext cx="7863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Principio fondamentale: in R tutto è un oggetto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Tre modi per assegnare valori: </a:t>
            </a:r>
            <a:r>
              <a:rPr i="1" lang="en-US" sz="16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fanno la stessa cosa</a:t>
            </a:r>
            <a:endParaRPr i="1" sz="1000"/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Tipi di dati principali: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&lt;- 6              # Freccia a sinistra (modo classico R)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6 -&gt; y              # Freccia a destra (meno usato)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z = 3.57            # Uguale (stile altri linguaggi)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1097280" y="4114800"/>
            <a:ext cx="69495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 (numerico): 5, 3.14, -7.8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(testuale): "ciao", "Roma", "2024"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(logico): TRUE, FALSE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Commenti e Buone Pratiche</a:t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Commenti con il simbolo #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Tutto ciò che segue # viene ignorato da R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Fondamentali per documentare il codice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1097275" y="2560325"/>
            <a:ext cx="6949500" cy="1169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Questo è un commento - R lo ignora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&lt;- 10  # Commento dopo il codice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Calcolo la media dei voti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media_voti &lt;- mean(voti)  # Esclude NA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914400" y="3931920"/>
            <a:ext cx="7315200" cy="2011680"/>
          </a:xfrm>
          <a:prstGeom prst="rect">
            <a:avLst/>
          </a:prstGeom>
          <a:solidFill>
            <a:srgbClr val="FFFAE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Buone pratiche di programmazione: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Commentare i passi complessi o non ovvi del codice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Usare nomi di variabili descrittivi (es: età_studenti, non x)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Organizzare il codice in sezioni logiche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Aggiungere commenti all'inizio dello script (autore, data, scopo)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Gestione dei Dati Mancanti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 l'assenza di informazione è essa stessa informazione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NA (Not Available) - dato non disponibile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Valori 'bianchi': es. domanda non risposta in un questionario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NaN (Not a Number) - non è un numero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Risultato di operazioni matematiche inappropriate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1097280" y="3848112"/>
            <a:ext cx="6949500" cy="13854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c(2, 3, 0/0, NA)  # Vettore con valori normali, NaN e NA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is.na(x)      # [FALSE FALSE TRUE TRUE]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is.nan(x)     # [FALSE FALSE TRUE FALSE]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Regola: ogni NaN è anche NA, ma non viceversa!</a:t>
            </a: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1371600" y="55778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0/0 è indefinito matematicamente → produce NaN che è anche NA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Debugging - Interpretare i messaggi di R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comunica tramite tre tipi di messaggi: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822960" y="1828800"/>
            <a:ext cx="7498079" cy="914400"/>
          </a:xfrm>
          <a:prstGeom prst="rect">
            <a:avLst/>
          </a:prstGeom>
          <a:solidFill>
            <a:srgbClr val="E6FFE6"/>
          </a:solidFill>
          <a:ln cap="flat" cmpd="sng" w="25400">
            <a:solidFill>
              <a:srgbClr val="00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MESSAGE (messaggio): operazione completata con successo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822960" y="3017520"/>
            <a:ext cx="7498079" cy="1097280"/>
          </a:xfrm>
          <a:prstGeom prst="rect">
            <a:avLst/>
          </a:prstGeom>
          <a:solidFill>
            <a:srgbClr val="FFFADC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WARNING (avviso): c'è stato un problema, ma ho eseguito qualcosa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Esempio: log(-1) produce NaN ma non blocca l'esecuzione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822960" y="4389120"/>
            <a:ext cx="7498079" cy="1097280"/>
          </a:xfrm>
          <a:prstGeom prst="rect">
            <a:avLst/>
          </a:prstGeom>
          <a:solidFill>
            <a:srgbClr val="FFEBEB"/>
          </a:solidFill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 ERROR (errore): errore bloccante, non ho potuto fare nulla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Esempio: plot() senza argomenti → 'argument is missing, with no default'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/>
        </p:nvSpPr>
        <p:spPr>
          <a:xfrm>
            <a:off x="457200" y="3657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Salvataggio e Caricamento</a:t>
            </a:r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640080" y="1188720"/>
            <a:ext cx="7863900" cy="4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RStudio gestisce automaticamente il salvataggio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Alla chiusura, RStudio chiede: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"Save workspace image?" → salva tutte le variabili in memoria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 un file .RData nella working directory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Alla riapertura, ricarica automaticamente tutto</a:t>
            </a:r>
            <a:endParaRPr/>
          </a:p>
        </p:txBody>
      </p:sp>
      <p:sp>
        <p:nvSpPr>
          <p:cNvPr id="219" name="Google Shape;219;p13"/>
          <p:cNvSpPr txBox="1"/>
          <p:nvPr/>
        </p:nvSpPr>
        <p:spPr>
          <a:xfrm>
            <a:off x="1097280" y="3479533"/>
            <a:ext cx="6949500" cy="13854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Comandi manuali (raramente necessari)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save.image("mio_workspace.RData")  # Salva workspace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load("mio_workspace.RData")         # Carica workspace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Salvare oggetti specifici</a:t>
            </a:r>
            <a:b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save(x, y, file="variabili.RData")</a:t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1371600" y="5486400"/>
            <a:ext cx="640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Consiglio: salvate sempre lo script! La workspace si può ricreare, lo script no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4acc6da9c_0_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Salvataggio e Caricamento</a:t>
            </a:r>
            <a:endParaRPr/>
          </a:p>
        </p:txBody>
      </p:sp>
      <p:sp>
        <p:nvSpPr>
          <p:cNvPr id="226" name="Google Shape;226;g3a4acc6da9c_0_5"/>
          <p:cNvSpPr txBox="1"/>
          <p:nvPr/>
        </p:nvSpPr>
        <p:spPr>
          <a:xfrm>
            <a:off x="640080" y="1188720"/>
            <a:ext cx="786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cronologia: ha un'estensione Rhistory e memorizza il listato di tutto il codice digitato durante la sessione di lavoro</a:t>
            </a:r>
            <a:endParaRPr sz="1800"/>
          </a:p>
        </p:txBody>
      </p:sp>
      <p:sp>
        <p:nvSpPr>
          <p:cNvPr id="227" name="Google Shape;227;g3a4acc6da9c_0_5"/>
          <p:cNvSpPr txBox="1"/>
          <p:nvPr/>
        </p:nvSpPr>
        <p:spPr>
          <a:xfrm>
            <a:off x="1097255" y="2839858"/>
            <a:ext cx="6949500" cy="1169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savehistory(file="crono.Rhistory")</a:t>
            </a:r>
            <a:r>
              <a:rPr lang="en-US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#salva la cronologia</a:t>
            </a:r>
            <a:endParaRPr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loadhistory</a:t>
            </a:r>
            <a:r>
              <a:rPr lang="en-US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(file="crono.Rhistory") #</a:t>
            </a:r>
            <a:r>
              <a:rPr lang="en-US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carica la cronologia</a:t>
            </a:r>
            <a:endParaRPr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" name="Google Shape;228;g3a4acc6da9c_0_5"/>
          <p:cNvSpPr txBox="1"/>
          <p:nvPr/>
        </p:nvSpPr>
        <p:spPr>
          <a:xfrm>
            <a:off x="1371600" y="5486400"/>
            <a:ext cx="640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Consiglio: salvate sempre lo script! La workspace si può ricreare, lo script no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4acc6da9c_0_14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4acc6da9c_0_17"/>
          <p:cNvSpPr txBox="1"/>
          <p:nvPr/>
        </p:nvSpPr>
        <p:spPr>
          <a:xfrm>
            <a:off x="3533875" y="188775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3</a:t>
            </a:r>
            <a:endParaRPr/>
          </a:p>
        </p:txBody>
      </p:sp>
      <p:sp>
        <p:nvSpPr>
          <p:cNvPr id="239" name="Google Shape;239;g3a4acc6da9c_0_17"/>
          <p:cNvSpPr txBox="1"/>
          <p:nvPr/>
        </p:nvSpPr>
        <p:spPr>
          <a:xfrm>
            <a:off x="2369900" y="1918950"/>
            <a:ext cx="4100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Oggetti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Introduzione oggetti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Vettori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frame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Struttura e attributi degli oggetti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a4acc6da9c_0_17"/>
          <p:cNvSpPr/>
          <p:nvPr/>
        </p:nvSpPr>
        <p:spPr>
          <a:xfrm>
            <a:off x="2737175" y="2767275"/>
            <a:ext cx="1834800" cy="106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4acc6da9c_0_25"/>
          <p:cNvSpPr txBox="1"/>
          <p:nvPr/>
        </p:nvSpPr>
        <p:spPr>
          <a:xfrm>
            <a:off x="1345950" y="1089300"/>
            <a:ext cx="64521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Introduzione oggetti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Gli oggetti in R possono essere definiti come dei contenitori di dati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Classi atomiche di oggetti</a:t>
            </a:r>
            <a:endParaRPr b="1" sz="19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 (numeri reali)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(True/False)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Oggetti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Vettori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4acc6da9c_0_34"/>
          <p:cNvSpPr txBox="1"/>
          <p:nvPr/>
        </p:nvSpPr>
        <p:spPr>
          <a:xfrm>
            <a:off x="457200" y="32004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Vettori - Creazione e Coercizione</a:t>
            </a:r>
            <a:endParaRPr/>
          </a:p>
        </p:txBody>
      </p:sp>
      <p:sp>
        <p:nvSpPr>
          <p:cNvPr id="251" name="Google Shape;251;g3a4acc6da9c_0_34"/>
          <p:cNvSpPr txBox="1"/>
          <p:nvPr/>
        </p:nvSpPr>
        <p:spPr>
          <a:xfrm>
            <a:off x="640080" y="868680"/>
            <a:ext cx="78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Per creare vettori di oggetti si usa la funzione c() - combine</a:t>
            </a:r>
            <a:endParaRPr/>
          </a:p>
        </p:txBody>
      </p:sp>
      <p:sp>
        <p:nvSpPr>
          <p:cNvPr id="252" name="Google Shape;252;g3a4acc6da9c_0_34"/>
          <p:cNvSpPr txBox="1"/>
          <p:nvPr/>
        </p:nvSpPr>
        <p:spPr>
          <a:xfrm>
            <a:off x="548640" y="1280160"/>
            <a:ext cx="4114800" cy="1716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1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c(0.6, 0.7, 1)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numeric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2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c(4, 5, 6, 7, 8)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numeric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3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&lt;- 4:8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integer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4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c(4L, 5L, 6L, 7L, 8L)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integer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5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c(4+0i, 3+6i)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complex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6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c("a", "b", "c")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character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7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c(TRUE, FALSE)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logical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8  </a:t>
            </a:r>
            <a:r>
              <a:rPr b="1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c(T, F)</a:t>
            </a:r>
            <a:r>
              <a:rPr b="0" i="1" lang="en-US" sz="11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# logical</a:t>
            </a:r>
            <a:endParaRPr/>
          </a:p>
        </p:txBody>
      </p:sp>
      <p:sp>
        <p:nvSpPr>
          <p:cNvPr id="253" name="Google Shape;253;g3a4acc6da9c_0_34"/>
          <p:cNvSpPr txBox="1"/>
          <p:nvPr/>
        </p:nvSpPr>
        <p:spPr>
          <a:xfrm>
            <a:off x="4846320" y="1280160"/>
            <a:ext cx="3749100" cy="14880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 Note importanti: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Righe 2 e 3 fanno la stessa cosa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4:8 è uno shortcut per c(4,5,6,7,8)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 dopo il numero → integer (4L)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 è case-sensitive: TRUE ≠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 e F sono abbreviazioni valide</a:t>
            </a:r>
            <a:endParaRPr/>
          </a:p>
        </p:txBody>
      </p:sp>
      <p:sp>
        <p:nvSpPr>
          <p:cNvPr id="254" name="Google Shape;254;g3a4acc6da9c_0_34"/>
          <p:cNvSpPr txBox="1"/>
          <p:nvPr/>
        </p:nvSpPr>
        <p:spPr>
          <a:xfrm>
            <a:off x="640080" y="411480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⚠️ Coercizione automatica - vettori misti</a:t>
            </a:r>
            <a:endParaRPr/>
          </a:p>
        </p:txBody>
      </p:sp>
      <p:sp>
        <p:nvSpPr>
          <p:cNvPr id="255" name="Google Shape;255;g3a4acc6da9c_0_34"/>
          <p:cNvSpPr txBox="1"/>
          <p:nvPr/>
        </p:nvSpPr>
        <p:spPr>
          <a:xfrm>
            <a:off x="640080" y="4480560"/>
            <a:ext cx="786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 vettori devono contenere solo dati dello stesso tipo. Se si mescolano tipi diversi, R applica una coercizione automatica per preservare l'informazione, convertendo tutti gli elementi alla stessa classe.</a:t>
            </a:r>
            <a:endParaRPr/>
          </a:p>
        </p:txBody>
      </p:sp>
      <p:sp>
        <p:nvSpPr>
          <p:cNvPr id="256" name="Google Shape;256;g3a4acc6da9c_0_34"/>
          <p:cNvSpPr txBox="1"/>
          <p:nvPr/>
        </p:nvSpPr>
        <p:spPr>
          <a:xfrm>
            <a:off x="548640" y="5120640"/>
            <a:ext cx="4389000" cy="8004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1  </a:t>
            </a:r>
            <a:r>
              <a:rPr b="1" i="0" lang="en-US" sz="120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y &lt;- c(1.7, "ciao")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1" lang="en-US" sz="12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2  </a:t>
            </a:r>
            <a:r>
              <a:rPr b="1" i="0" lang="en-US" sz="120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y &lt;- c(TRUE, 8)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1" lang="en-US" sz="12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numeric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6464"/>
                </a:solidFill>
                <a:latin typeface="Courier New"/>
                <a:ea typeface="Courier New"/>
                <a:cs typeface="Courier New"/>
                <a:sym typeface="Courier New"/>
              </a:rPr>
              <a:t>3  </a:t>
            </a:r>
            <a:r>
              <a:rPr b="1" i="0" lang="en-US" sz="120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y &lt;- c("ciao", TRUE)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1" lang="en-US" sz="12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endParaRPr/>
          </a:p>
        </p:txBody>
      </p:sp>
      <p:sp>
        <p:nvSpPr>
          <p:cNvPr id="257" name="Google Shape;257;g3a4acc6da9c_0_34"/>
          <p:cNvSpPr txBox="1"/>
          <p:nvPr/>
        </p:nvSpPr>
        <p:spPr>
          <a:xfrm>
            <a:off x="5120640" y="5120640"/>
            <a:ext cx="3474600" cy="16032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🔄 Gerarchia di coercizione: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→ numeric → character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TRUE → 1 (numeric)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FALSE → 0 (numeric)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Numeri → testo con virgolette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TRUE → "TRUE" (character)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544176397_0_4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Matrici - Parte 1</a:t>
            </a:r>
            <a:endParaRPr/>
          </a:p>
        </p:txBody>
      </p:sp>
      <p:sp>
        <p:nvSpPr>
          <p:cNvPr id="263" name="Google Shape;263;g3a544176397_0_4"/>
          <p:cNvSpPr txBox="1"/>
          <p:nvPr/>
        </p:nvSpPr>
        <p:spPr>
          <a:xfrm>
            <a:off x="640080" y="1097280"/>
            <a:ext cx="7863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matrici si differenziano dai vettori per avere un </a:t>
            </a:r>
            <a:r>
              <a:rPr b="1" i="0" lang="en-US" sz="16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attributo di dimensione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L'attributo di dimensione è un vettore integer di lunghezza 2: (numero righe, numero colonne)</a:t>
            </a:r>
            <a:endParaRPr/>
          </a:p>
        </p:txBody>
      </p:sp>
      <p:sp>
        <p:nvSpPr>
          <p:cNvPr id="264" name="Google Shape;264;g3a544176397_0_4"/>
          <p:cNvSpPr txBox="1"/>
          <p:nvPr/>
        </p:nvSpPr>
        <p:spPr>
          <a:xfrm>
            <a:off x="640080" y="2286000"/>
            <a:ext cx="7863900" cy="2547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 &lt;- matrix( nrow=2, ncol=3)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[,1] [,2] [,3]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 </a:t>
            </a: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 </a:t>
            </a: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   NA  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dim(m)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attributes(m)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$dim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 3</a:t>
            </a:r>
            <a:endParaRPr/>
          </a:p>
        </p:txBody>
      </p:sp>
      <p:sp>
        <p:nvSpPr>
          <p:cNvPr id="265" name="Google Shape;265;g3a544176397_0_4"/>
          <p:cNvSpPr txBox="1"/>
          <p:nvPr/>
        </p:nvSpPr>
        <p:spPr>
          <a:xfrm>
            <a:off x="640080" y="5486400"/>
            <a:ext cx="7863900" cy="3231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Come i vettori, le matrici possono essere formate solo da elementi della stessa classe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544176397_0_1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Matrici - Parte 2</a:t>
            </a:r>
            <a:endParaRPr/>
          </a:p>
        </p:txBody>
      </p:sp>
      <p:sp>
        <p:nvSpPr>
          <p:cNvPr id="271" name="Google Shape;271;g3a544176397_0_11"/>
          <p:cNvSpPr txBox="1"/>
          <p:nvPr/>
        </p:nvSpPr>
        <p:spPr>
          <a:xfrm>
            <a:off x="640080" y="1097280"/>
            <a:ext cx="786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matrici sono costruite </a:t>
            </a:r>
            <a:r>
              <a:rPr b="1" i="0" lang="en-US" sz="16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column-wise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iniziando dalle colonne di sinistra verso quelle di destra</a:t>
            </a:r>
            <a:endParaRPr/>
          </a:p>
        </p:txBody>
      </p:sp>
      <p:sp>
        <p:nvSpPr>
          <p:cNvPr id="272" name="Google Shape;272;g3a544176397_0_11"/>
          <p:cNvSpPr txBox="1"/>
          <p:nvPr/>
        </p:nvSpPr>
        <p:spPr>
          <a:xfrm>
            <a:off x="640080" y="2103120"/>
            <a:ext cx="7863900" cy="1300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 &lt;- matrix(1:12, nrow=3, ncol=4)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[,1] [,2] [,3] [,4]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   1    4    7   10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   2    5    8   11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[3,]    3    6    9   12</a:t>
            </a:r>
            <a:endParaRPr/>
          </a:p>
        </p:txBody>
      </p:sp>
      <p:sp>
        <p:nvSpPr>
          <p:cNvPr id="273" name="Google Shape;273;g3a544176397_0_11"/>
          <p:cNvSpPr txBox="1"/>
          <p:nvPr/>
        </p:nvSpPr>
        <p:spPr>
          <a:xfrm>
            <a:off x="640080" y="3872795"/>
            <a:ext cx="7863900" cy="24729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Ordine di riempimento: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numeri 1:12 vengono inseriti COLONNA per COLONNA: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Colonna 1: 1, 2, 3    →    Colonna 2: 4, 5, 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Colonna 3: 7, 8, 9    →    Colonna 4: 10, 11, 12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 NON riga per riga!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Colonna per colonna (dall'alto verso il basso, da sinistra a destra)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544176397_0_1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Matrici - Parte 3</a:t>
            </a:r>
            <a:endParaRPr/>
          </a:p>
        </p:txBody>
      </p:sp>
      <p:sp>
        <p:nvSpPr>
          <p:cNvPr id="279" name="Google Shape;279;g3a544176397_0_18"/>
          <p:cNvSpPr txBox="1"/>
          <p:nvPr/>
        </p:nvSpPr>
        <p:spPr>
          <a:xfrm>
            <a:off x="640080" y="1097280"/>
            <a:ext cx="786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matrici possono essere costruite anche attraverso il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column-binding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il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row-binding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le funzioni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cbind()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rbind()</a:t>
            </a:r>
            <a:endParaRPr/>
          </a:p>
        </p:txBody>
      </p:sp>
      <p:sp>
        <p:nvSpPr>
          <p:cNvPr id="280" name="Google Shape;280;g3a544176397_0_18"/>
          <p:cNvSpPr txBox="1"/>
          <p:nvPr/>
        </p:nvSpPr>
        <p:spPr>
          <a:xfrm>
            <a:off x="640080" y="2194560"/>
            <a:ext cx="3657600" cy="1716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c(1, 2, 3, 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c(7, 8, 9, 10)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cbind(x, y)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x  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1  7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2  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[3,] 3  9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[4,] 4 10</a:t>
            </a:r>
            <a:endParaRPr/>
          </a:p>
        </p:txBody>
      </p:sp>
      <p:sp>
        <p:nvSpPr>
          <p:cNvPr id="281" name="Google Shape;281;g3a544176397_0_18"/>
          <p:cNvSpPr txBox="1"/>
          <p:nvPr/>
        </p:nvSpPr>
        <p:spPr>
          <a:xfrm>
            <a:off x="4754880" y="2194560"/>
            <a:ext cx="3749100" cy="1300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c(1, 2, 3, 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c(7, 8, 9, 10)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rbind(x, y)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[,1] [,2] [,3] [,4]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   1    2    3    4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y    7    8    9   10</a:t>
            </a:r>
            <a:endParaRPr/>
          </a:p>
        </p:txBody>
      </p:sp>
      <p:sp>
        <p:nvSpPr>
          <p:cNvPr id="282" name="Google Shape;282;g3a544176397_0_18"/>
          <p:cNvSpPr txBox="1"/>
          <p:nvPr/>
        </p:nvSpPr>
        <p:spPr>
          <a:xfrm>
            <a:off x="640080" y="5029200"/>
            <a:ext cx="7863900" cy="8364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Differenza: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cbind() = Column Bind → i vettori diventano COLONNE della matrice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rbind() = Row Bind → i vettori diventano RIGHE della matrice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544176397_0_26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Data Frame - Parte 1</a:t>
            </a:r>
            <a:endParaRPr/>
          </a:p>
        </p:txBody>
      </p:sp>
      <p:sp>
        <p:nvSpPr>
          <p:cNvPr id="288" name="Google Shape;288;g3a544176397_0_26"/>
          <p:cNvSpPr txBox="1"/>
          <p:nvPr/>
        </p:nvSpPr>
        <p:spPr>
          <a:xfrm>
            <a:off x="640080" y="1097280"/>
            <a:ext cx="78639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 data frame presentano particolari caratteristiche: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Sono usati per contenere dati tabulari (come fogli Excel)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Diversamente dalle matrici, possono contenere differenti classi di oggetti in ogni colonna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Hanno un attributo speciale chiamato row.names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Ogni colonna deve avere lo stesso numero di elementi</a:t>
            </a:r>
            <a:endParaRPr/>
          </a:p>
        </p:txBody>
      </p:sp>
      <p:sp>
        <p:nvSpPr>
          <p:cNvPr id="289" name="Google Shape;289;g3a544176397_0_26"/>
          <p:cNvSpPr txBox="1"/>
          <p:nvPr/>
        </p:nvSpPr>
        <p:spPr>
          <a:xfrm>
            <a:off x="640080" y="3017520"/>
            <a:ext cx="3931800" cy="1923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anni &lt;- c(21, 34, 67, 45)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 'F', 'M', 'F')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data.frame(anni, genere)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anni genere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1   21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2   34      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3   67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4   45      F</a:t>
            </a:r>
            <a:endParaRPr/>
          </a:p>
        </p:txBody>
      </p:sp>
      <p:sp>
        <p:nvSpPr>
          <p:cNvPr id="290" name="Google Shape;290;g3a544176397_0_26"/>
          <p:cNvSpPr txBox="1"/>
          <p:nvPr/>
        </p:nvSpPr>
        <p:spPr>
          <a:xfrm>
            <a:off x="4846320" y="3017520"/>
            <a:ext cx="3657600" cy="20496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📋 Funzioni utili: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nrow(x) - numero righe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ncol(x) - numero colonne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dim(x) - dimensioni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names(x) - nomi colonne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row.names(x) - nomi righe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str(x) - struttura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summary(x) - statistiche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544176397_0_33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Data Frame - Parte 2: Esplorare i dati</a:t>
            </a:r>
            <a:endParaRPr/>
          </a:p>
        </p:txBody>
      </p:sp>
      <p:sp>
        <p:nvSpPr>
          <p:cNvPr id="296" name="Google Shape;296;g3a544176397_0_33"/>
          <p:cNvSpPr txBox="1"/>
          <p:nvPr/>
        </p:nvSpPr>
        <p:spPr>
          <a:xfrm>
            <a:off x="640055" y="950745"/>
            <a:ext cx="7863900" cy="2547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anni &lt;- c(21, 34, 67, 45)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 'F', 'M', 'F')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celibe &lt;- c(TRUE, FALSE, FALSE, TRUE)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peso &lt;- c(75.5, 62.0, 80.3, 58.7)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data.frame(anni, genere, celibe, peso)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str(x)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'data.frame': 4 obs. of 4 variables: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$ anni  : num  21 34 67 45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$ genere: chr  "M" "F" "M" "F"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$ celibe: logi TRUE FALSE FALSE TRUE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$ peso  : num  75.5 62 80.3 58.7</a:t>
            </a:r>
            <a:endParaRPr/>
          </a:p>
        </p:txBody>
      </p:sp>
      <p:sp>
        <p:nvSpPr>
          <p:cNvPr id="297" name="Google Shape;297;g3a544176397_0_33"/>
          <p:cNvSpPr txBox="1"/>
          <p:nvPr/>
        </p:nvSpPr>
        <p:spPr>
          <a:xfrm>
            <a:off x="640080" y="3614645"/>
            <a:ext cx="7863900" cy="4926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str() mostra la struttura: tipo di oggetto, numero osservazioni, numero variabili, tipo di ogni colonna e primi valori</a:t>
            </a:r>
            <a:endParaRPr/>
          </a:p>
        </p:txBody>
      </p:sp>
      <p:sp>
        <p:nvSpPr>
          <p:cNvPr id="298" name="Google Shape;298;g3a544176397_0_33"/>
          <p:cNvSpPr txBox="1"/>
          <p:nvPr/>
        </p:nvSpPr>
        <p:spPr>
          <a:xfrm>
            <a:off x="640080" y="4351110"/>
            <a:ext cx="7863900" cy="1716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summary(x)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anni        genere            celibe           peso    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Min.   :21.0   Length:4       Mode :logical   Min.   :58.70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1st Qu.:30.2   Class :character   FALSE:2     1st Qu.:60.93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Median :39.5   Mode  :character   TRUE :2     Median :68.75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Mean   :41.8                                  Mean   :69.12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3rd Qu.:49.2                                  3rd Qu.:76.58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Max.   :67.0                                  Max.   :80.30 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544176397_0_40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Factors - Variabili Categoriche</a:t>
            </a:r>
            <a:endParaRPr/>
          </a:p>
        </p:txBody>
      </p:sp>
      <p:sp>
        <p:nvSpPr>
          <p:cNvPr id="304" name="Google Shape;304;g3a544176397_0_40"/>
          <p:cNvSpPr txBox="1"/>
          <p:nvPr/>
        </p:nvSpPr>
        <p:spPr>
          <a:xfrm>
            <a:off x="640080" y="1097280"/>
            <a:ext cx="786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Factors sono oggetti usati per rappresentare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dati categorici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Descrivono elementi che hanno un numero finito di valori (livelli). Ogni elemento è associato a un determinato livello del fattore.</a:t>
            </a:r>
            <a:endParaRPr/>
          </a:p>
        </p:txBody>
      </p:sp>
      <p:sp>
        <p:nvSpPr>
          <p:cNvPr id="305" name="Google Shape;305;g3a544176397_0_40"/>
          <p:cNvSpPr txBox="1"/>
          <p:nvPr/>
        </p:nvSpPr>
        <p:spPr>
          <a:xfrm>
            <a:off x="640080" y="2286000"/>
            <a:ext cx="3657600" cy="2131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factor(c('M', 'F', 'F', 'M', 'M'))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M F F M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F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"factor"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levels(x)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"F" "M"</a:t>
            </a:r>
            <a:endParaRPr/>
          </a:p>
        </p:txBody>
      </p:sp>
      <p:sp>
        <p:nvSpPr>
          <p:cNvPr id="306" name="Google Shape;306;g3a544176397_0_40"/>
          <p:cNvSpPr txBox="1"/>
          <p:nvPr/>
        </p:nvSpPr>
        <p:spPr>
          <a:xfrm>
            <a:off x="4754880" y="2286000"/>
            <a:ext cx="3749100" cy="2339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 &lt;- c(1, 2, 3, 2, 1)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1 2 3 2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 &lt;- as.factor(a)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1 2 3 2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1 2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"factor"</a:t>
            </a:r>
            <a:endParaRPr/>
          </a:p>
        </p:txBody>
      </p:sp>
      <p:sp>
        <p:nvSpPr>
          <p:cNvPr id="307" name="Google Shape;307;g3a544176397_0_40"/>
          <p:cNvSpPr txBox="1"/>
          <p:nvPr/>
        </p:nvSpPr>
        <p:spPr>
          <a:xfrm>
            <a:off x="640080" y="5212080"/>
            <a:ext cx="7863900" cy="10878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IMPORTANTE: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 factor sono etichette, NON numeri! Anche se appaiono come 1, 2, 3, non potete fare operazioni matematiche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 livelli (levels) definiscono i valori ammessi. Valori non presenti nei livelli diventano NA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L'ordine dei livelli è alfabetico per default, ma può essere specificato manualmente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544176397_0_126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Attributi dell'Oggetto - Parte 1</a:t>
            </a:r>
            <a:endParaRPr/>
          </a:p>
        </p:txBody>
      </p:sp>
      <p:sp>
        <p:nvSpPr>
          <p:cNvPr id="313" name="Google Shape;313;g3a544176397_0_126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Per descrivere gli attributi di un oggetto R dispone di diverse funzioni dedicate:</a:t>
            </a:r>
            <a:endParaRPr/>
          </a:p>
        </p:txBody>
      </p:sp>
      <p:sp>
        <p:nvSpPr>
          <p:cNvPr id="314" name="Google Shape;314;g3a544176397_0_126"/>
          <p:cNvSpPr txBox="1"/>
          <p:nvPr/>
        </p:nvSpPr>
        <p:spPr>
          <a:xfrm>
            <a:off x="640080" y="1691640"/>
            <a:ext cx="78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names()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Restituisce il vettore dei nomi usati per identificare le variabili</a:t>
            </a:r>
            <a:endParaRPr/>
          </a:p>
        </p:txBody>
      </p:sp>
      <p:sp>
        <p:nvSpPr>
          <p:cNvPr id="315" name="Google Shape;315;g3a544176397_0_126"/>
          <p:cNvSpPr txBox="1"/>
          <p:nvPr/>
        </p:nvSpPr>
        <p:spPr>
          <a:xfrm>
            <a:off x="640080" y="2103120"/>
            <a:ext cx="7863900" cy="1716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anni &lt;- c(21L, 34L, 67L, 45L, 33L)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 'M', 'F', 'M', 'F')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celibe &lt;- c(TRUE, TRUE, TRUE, FALSE, FALSE)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peso &lt;- c(81.4, 72.3, 54.8, 76.4, 47.3)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data.frame(anni, genere, celibe, peso)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names(x)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"anni"   "genere" "celibe" "peso"</a:t>
            </a:r>
            <a:endParaRPr/>
          </a:p>
        </p:txBody>
      </p:sp>
      <p:sp>
        <p:nvSpPr>
          <p:cNvPr id="316" name="Google Shape;316;g3a544176397_0_126"/>
          <p:cNvSpPr txBox="1"/>
          <p:nvPr/>
        </p:nvSpPr>
        <p:spPr>
          <a:xfrm>
            <a:off x="640080" y="4572000"/>
            <a:ext cx="78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dim()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Restituisce la dimensione dell'oggetto (righe, colonne)</a:t>
            </a:r>
            <a:endParaRPr/>
          </a:p>
        </p:txBody>
      </p:sp>
      <p:sp>
        <p:nvSpPr>
          <p:cNvPr id="317" name="Google Shape;317;g3a544176397_0_126"/>
          <p:cNvSpPr txBox="1"/>
          <p:nvPr/>
        </p:nvSpPr>
        <p:spPr>
          <a:xfrm>
            <a:off x="640080" y="4983480"/>
            <a:ext cx="7863900" cy="469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dim(x)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5 4</a:t>
            </a:r>
            <a:endParaRPr/>
          </a:p>
        </p:txBody>
      </p:sp>
      <p:sp>
        <p:nvSpPr>
          <p:cNvPr id="318" name="Google Shape;318;g3a544176397_0_126"/>
          <p:cNvSpPr txBox="1"/>
          <p:nvPr/>
        </p:nvSpPr>
        <p:spPr>
          <a:xfrm>
            <a:off x="640080" y="5760720"/>
            <a:ext cx="7863900" cy="2925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dim(x) restituisce [5 4]: 5 righe (osservazioni) e 4 colonne (variabili)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544176397_0_136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Attributi dell'Oggetto - Parte 2</a:t>
            </a:r>
            <a:endParaRPr/>
          </a:p>
        </p:txBody>
      </p:sp>
      <p:sp>
        <p:nvSpPr>
          <p:cNvPr id="324" name="Google Shape;324;g3a544176397_0_136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Altre funzioni fondamentali per interrogare gli oggetti:</a:t>
            </a:r>
            <a:endParaRPr/>
          </a:p>
        </p:txBody>
      </p:sp>
      <p:sp>
        <p:nvSpPr>
          <p:cNvPr id="325" name="Google Shape;325;g3a544176397_0_136"/>
          <p:cNvSpPr txBox="1"/>
          <p:nvPr/>
        </p:nvSpPr>
        <p:spPr>
          <a:xfrm>
            <a:off x="640078" y="1491458"/>
            <a:ext cx="3539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class()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Restituisce la classe di appartenenza dell'oggetto</a:t>
            </a:r>
            <a:endParaRPr/>
          </a:p>
        </p:txBody>
      </p:sp>
      <p:sp>
        <p:nvSpPr>
          <p:cNvPr id="326" name="Google Shape;326;g3a544176397_0_136"/>
          <p:cNvSpPr txBox="1"/>
          <p:nvPr/>
        </p:nvSpPr>
        <p:spPr>
          <a:xfrm>
            <a:off x="640080" y="2103120"/>
            <a:ext cx="3657600" cy="2339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"data.frame"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class(x$anni)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"integer"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class(x$genere)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"character"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class(x$celibe)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"logical"</a:t>
            </a:r>
            <a:endParaRPr/>
          </a:p>
        </p:txBody>
      </p:sp>
      <p:sp>
        <p:nvSpPr>
          <p:cNvPr id="327" name="Google Shape;327;g3a544176397_0_136"/>
          <p:cNvSpPr txBox="1"/>
          <p:nvPr/>
        </p:nvSpPr>
        <p:spPr>
          <a:xfrm>
            <a:off x="4572063" y="1491440"/>
            <a:ext cx="393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length()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Lunghezza vettore</a:t>
            </a:r>
            <a:endParaRPr/>
          </a:p>
        </p:txBody>
      </p:sp>
      <p:sp>
        <p:nvSpPr>
          <p:cNvPr id="328" name="Google Shape;328;g3a544176397_0_136"/>
          <p:cNvSpPr txBox="1"/>
          <p:nvPr/>
        </p:nvSpPr>
        <p:spPr>
          <a:xfrm>
            <a:off x="4572000" y="2103120"/>
            <a:ext cx="3931800" cy="2131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length(x$peso)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length(x$anni)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Su un vettore: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v &lt;- c(10, 20, 30)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length(v)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3</a:t>
            </a:r>
            <a:endParaRPr/>
          </a:p>
        </p:txBody>
      </p:sp>
      <p:sp>
        <p:nvSpPr>
          <p:cNvPr id="329" name="Google Shape;329;g3a544176397_0_136"/>
          <p:cNvSpPr txBox="1"/>
          <p:nvPr/>
        </p:nvSpPr>
        <p:spPr>
          <a:xfrm>
            <a:off x="640075" y="5029200"/>
            <a:ext cx="7863900" cy="1723800"/>
          </a:xfrm>
          <a:prstGeom prst="rect">
            <a:avLst/>
          </a:prstGeom>
          <a:solidFill>
            <a:srgbClr val="FFFAE6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86400"/>
                </a:solidFill>
                <a:latin typeface="Calibri"/>
                <a:ea typeface="Calibri"/>
                <a:cs typeface="Calibri"/>
                <a:sym typeface="Calibri"/>
              </a:rPr>
              <a:t>📋 RIEPILOGO FUNZIONI ATTRIBUTI: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names(x)   → nomi delle colonne/variabili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dim(x)     → dimensioni (righe, colonne) per matrici e data frame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class(x)   → tipo di oggetto (data.frame, numeric, character, factor...)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length(x)  → numero di elementi in un vettore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str(x)     → struttura completa dell'oggetto (combinazione di tutte le info)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summary(x) → statistiche descrittive</a:t>
            </a:r>
            <a:endParaRPr/>
          </a:p>
        </p:txBody>
      </p:sp>
      <p:sp>
        <p:nvSpPr>
          <p:cNvPr id="330" name="Google Shape;330;g3a544176397_0_136"/>
          <p:cNvSpPr txBox="1"/>
          <p:nvPr/>
        </p:nvSpPr>
        <p:spPr>
          <a:xfrm>
            <a:off x="640080" y="4474410"/>
            <a:ext cx="7863900" cy="5232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L'operatore </a:t>
            </a:r>
            <a:r>
              <a:rPr b="1" lang="en-US" sz="1500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permette di accedere direttamente alle colonne: </a:t>
            </a:r>
            <a:r>
              <a:rPr b="1" lang="en-US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x$anni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estrae la colonna 'anni'. Simile alle strutture in C.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Funzioni per esplorare gli oggetti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 txBox="1"/>
          <p:nvPr/>
        </p:nvSpPr>
        <p:spPr>
          <a:xfrm>
            <a:off x="914400" y="1371600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str(oggetto)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4389120" y="1371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 la STRuttura dell'oggetto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914400" y="1856232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summary(oggetto)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4389120" y="185623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Riassunto statistico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914400" y="2340864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names(oggetto)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4389120" y="2340864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Nomi di colonne/elementi</a:t>
            </a:r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914400" y="2825496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dim(oggetto)</a:t>
            </a:r>
            <a:endParaRPr/>
          </a:p>
        </p:txBody>
      </p:sp>
      <p:sp>
        <p:nvSpPr>
          <p:cNvPr id="344" name="Google Shape;344;p18"/>
          <p:cNvSpPr txBox="1"/>
          <p:nvPr/>
        </p:nvSpPr>
        <p:spPr>
          <a:xfrm>
            <a:off x="4389120" y="2825496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DIMensioni (righe, colonne)</a:t>
            </a:r>
            <a:endParaRPr/>
          </a:p>
        </p:txBody>
      </p:sp>
      <p:sp>
        <p:nvSpPr>
          <p:cNvPr id="345" name="Google Shape;345;p18"/>
          <p:cNvSpPr txBox="1"/>
          <p:nvPr/>
        </p:nvSpPr>
        <p:spPr>
          <a:xfrm>
            <a:off x="914400" y="3310128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nrow(oggetto)</a:t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4389120" y="33101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 di righe</a:t>
            </a:r>
            <a:endParaRPr/>
          </a:p>
        </p:txBody>
      </p:sp>
      <p:sp>
        <p:nvSpPr>
          <p:cNvPr id="347" name="Google Shape;347;p18"/>
          <p:cNvSpPr txBox="1"/>
          <p:nvPr/>
        </p:nvSpPr>
        <p:spPr>
          <a:xfrm>
            <a:off x="914400" y="3794760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ncol(oggetto)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4389120" y="37947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 di colonne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914400" y="4279392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head(oggetto)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4389120" y="427939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 6 righe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914400" y="4764024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tail(oggetto)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4389120" y="4764024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Ultime 6 righe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914400" y="5248656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class(oggetto)</a:t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4389120" y="5248656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di oggetto</a:t>
            </a:r>
            <a:endParaRPr/>
          </a:p>
        </p:txBody>
      </p:sp>
      <p:sp>
        <p:nvSpPr>
          <p:cNvPr id="355" name="Google Shape;355;p18"/>
          <p:cNvSpPr txBox="1"/>
          <p:nvPr/>
        </p:nvSpPr>
        <p:spPr>
          <a:xfrm>
            <a:off x="914400" y="5733288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typeof(oggetto)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4389120" y="573328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di dati contenuti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544176397_0_222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544176397_0_226"/>
          <p:cNvSpPr txBox="1"/>
          <p:nvPr/>
        </p:nvSpPr>
        <p:spPr>
          <a:xfrm>
            <a:off x="3921875" y="723550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4</a:t>
            </a:r>
            <a:endParaRPr/>
          </a:p>
        </p:txBody>
      </p:sp>
      <p:sp>
        <p:nvSpPr>
          <p:cNvPr id="367" name="Google Shape;367;g3a544176397_0_226"/>
          <p:cNvSpPr txBox="1"/>
          <p:nvPr/>
        </p:nvSpPr>
        <p:spPr>
          <a:xfrm>
            <a:off x="2369900" y="1918950"/>
            <a:ext cx="48867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Operazioni con gli o</a:t>
            </a: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ggetti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Coercizione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Indicizzazione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Richiamo di vettori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 singolo elemento, riga o colonna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 livelli dei fattori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 nomi variabili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Divisione in classi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5a5b23e9e_0_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Coercizione - Conversione tra Tipi</a:t>
            </a:r>
            <a:endParaRPr/>
          </a:p>
        </p:txBody>
      </p:sp>
      <p:sp>
        <p:nvSpPr>
          <p:cNvPr id="373" name="Google Shape;373;g3a5a5b23e9e_0_1"/>
          <p:cNvSpPr txBox="1"/>
          <p:nvPr/>
        </p:nvSpPr>
        <p:spPr>
          <a:xfrm>
            <a:off x="640080" y="1097280"/>
            <a:ext cx="78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 possibile imporre agli oggetti una specifica classe attraverso le funzioni </a:t>
            </a:r>
            <a:r>
              <a:rPr b="1" i="0" lang="en-US" sz="16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as.*</a:t>
            </a:r>
            <a:endParaRPr/>
          </a:p>
        </p:txBody>
      </p:sp>
      <p:sp>
        <p:nvSpPr>
          <p:cNvPr id="374" name="Google Shape;374;g3a5a5b23e9e_0_1"/>
          <p:cNvSpPr txBox="1"/>
          <p:nvPr/>
        </p:nvSpPr>
        <p:spPr>
          <a:xfrm>
            <a:off x="640080" y="1828800"/>
            <a:ext cx="5029200" cy="3170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&lt;- 4:7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"integer"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as.numeric(x)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4 5 6 7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as.logical(x)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TRUE TRUE TRUE TRUE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as.character(x)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"4" "5" "6" "7"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as.complex(x)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4+0i 5+0i 6+0i 7+0i</a:t>
            </a:r>
            <a:endParaRPr/>
          </a:p>
        </p:txBody>
      </p:sp>
      <p:sp>
        <p:nvSpPr>
          <p:cNvPr id="375" name="Google Shape;375;g3a5a5b23e9e_0_1"/>
          <p:cNvSpPr txBox="1"/>
          <p:nvPr/>
        </p:nvSpPr>
        <p:spPr>
          <a:xfrm>
            <a:off x="5943600" y="1828800"/>
            <a:ext cx="2560200" cy="32478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 Funzioni as.*: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as.numeric()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numeri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as.logical()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TRUE/FALSE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as.character()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testo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as.complex()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numeri complessi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as.factor()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→ categorie</a:t>
            </a:r>
            <a:endParaRPr/>
          </a:p>
        </p:txBody>
      </p:sp>
      <p:sp>
        <p:nvSpPr>
          <p:cNvPr id="376" name="Google Shape;376;g3a5a5b23e9e_0_1"/>
          <p:cNvSpPr txBox="1"/>
          <p:nvPr/>
        </p:nvSpPr>
        <p:spPr>
          <a:xfrm>
            <a:off x="640080" y="5943600"/>
            <a:ext cx="7863900" cy="29250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Regola per as.logical(): </a:t>
            </a:r>
            <a:r>
              <a:rPr b="1" i="0" lang="en-US" sz="13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0 → FALSE</a:t>
            </a: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1" i="0" lang="en-US" sz="13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Tutto il resto → TRUE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5a5b23e9e_0_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Coercizione - Attenzione agli Errori!</a:t>
            </a:r>
            <a:endParaRPr/>
          </a:p>
        </p:txBody>
      </p:sp>
      <p:sp>
        <p:nvSpPr>
          <p:cNvPr id="382" name="Google Shape;382;g3a5a5b23e9e_0_9"/>
          <p:cNvSpPr txBox="1"/>
          <p:nvPr/>
        </p:nvSpPr>
        <p:spPr>
          <a:xfrm>
            <a:off x="640080" y="1097280"/>
            <a:ext cx="7863900" cy="3387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Coercizioni senza senso producono NA (valori mancanti)</a:t>
            </a:r>
            <a:endParaRPr/>
          </a:p>
        </p:txBody>
      </p:sp>
      <p:sp>
        <p:nvSpPr>
          <p:cNvPr id="383" name="Google Shape;383;g3a5a5b23e9e_0_9"/>
          <p:cNvSpPr txBox="1"/>
          <p:nvPr/>
        </p:nvSpPr>
        <p:spPr>
          <a:xfrm>
            <a:off x="640080" y="1920240"/>
            <a:ext cx="3931800" cy="2131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c("a", "b", "c")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"a" "b" "c"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as.numeric(x)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NA NA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Warning message: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NAs introduced by coercion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(si è prodotto un NA per coercizione)</a:t>
            </a:r>
            <a:endParaRPr/>
          </a:p>
        </p:txBody>
      </p:sp>
      <p:sp>
        <p:nvSpPr>
          <p:cNvPr id="384" name="Google Shape;384;g3a5a5b23e9e_0_9"/>
          <p:cNvSpPr txBox="1"/>
          <p:nvPr/>
        </p:nvSpPr>
        <p:spPr>
          <a:xfrm>
            <a:off x="4572000" y="1920240"/>
            <a:ext cx="3931800" cy="1508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c("a", "b", "c")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as.logical(x)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NA NA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Warning message: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NAs introduced by coercion</a:t>
            </a:r>
            <a:endParaRPr/>
          </a:p>
        </p:txBody>
      </p:sp>
      <p:sp>
        <p:nvSpPr>
          <p:cNvPr id="385" name="Google Shape;385;g3a5a5b23e9e_0_9"/>
          <p:cNvSpPr txBox="1"/>
          <p:nvPr/>
        </p:nvSpPr>
        <p:spPr>
          <a:xfrm>
            <a:off x="640080" y="4846320"/>
            <a:ext cx="7863900" cy="13392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 Perché succede?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lettere "a", "b", "c" non hanno una rappresentazione numerica o logica ovvia. R non sa come convertirle, quindi produce NA (valori mancanti) e genera un warning per avvisarti.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Conversioni che funzionano: numeri ↔ logical, numeri ↔ character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 Conversioni problematiche: lettere → numeri, testo generico → logical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5a5b23e9e_0_17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Indicizzazione (Subsetting) - Parte 1</a:t>
            </a:r>
            <a:endParaRPr/>
          </a:p>
        </p:txBody>
      </p:sp>
      <p:sp>
        <p:nvSpPr>
          <p:cNvPr id="391" name="Google Shape;391;g3a5a5b23e9e_0_17"/>
          <p:cNvSpPr txBox="1"/>
          <p:nvPr/>
        </p:nvSpPr>
        <p:spPr>
          <a:xfrm>
            <a:off x="640080" y="1097280"/>
            <a:ext cx="786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richiamare specifici valori di un oggetto si ricorre all'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indicizzazione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Esistono diversi operatori per estrarre sottoinsiemi degli oggetti di R:</a:t>
            </a:r>
            <a:endParaRPr/>
          </a:p>
        </p:txBody>
      </p:sp>
      <p:sp>
        <p:nvSpPr>
          <p:cNvPr id="392" name="Google Shape;392;g3a5a5b23e9e_0_17"/>
          <p:cNvSpPr txBox="1"/>
          <p:nvPr/>
        </p:nvSpPr>
        <p:spPr>
          <a:xfrm>
            <a:off x="640080" y="1965960"/>
            <a:ext cx="78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è usato per richiamare un vettore colonna di un data frame</a:t>
            </a:r>
            <a:endParaRPr/>
          </a:p>
        </p:txBody>
      </p:sp>
      <p:sp>
        <p:nvSpPr>
          <p:cNvPr id="393" name="Google Shape;393;g3a5a5b23e9e_0_17"/>
          <p:cNvSpPr txBox="1"/>
          <p:nvPr/>
        </p:nvSpPr>
        <p:spPr>
          <a:xfrm>
            <a:off x="640080" y="2377440"/>
            <a:ext cx="7863900" cy="3378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anni &lt;- c(21, 34, 67, 45)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 'M', 'F', 'M')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data.frame(anni, genere)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anni genere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1   21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2   34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3   67      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4   45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x$anni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21 34 67 45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x$genere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M M F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F M</a:t>
            </a:r>
            <a:endParaRPr/>
          </a:p>
        </p:txBody>
      </p:sp>
      <p:sp>
        <p:nvSpPr>
          <p:cNvPr id="394" name="Google Shape;394;g3a5a5b23e9e_0_17"/>
          <p:cNvSpPr txBox="1"/>
          <p:nvPr/>
        </p:nvSpPr>
        <p:spPr>
          <a:xfrm>
            <a:off x="640080" y="6126480"/>
            <a:ext cx="7863900" cy="2925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L'operatore $ è specifico per data frame e liste. Restituisce un vettore colonna.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5a5b23e9e_0_2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Indicizzazione (Subsetting) - Parte 2</a:t>
            </a:r>
            <a:endParaRPr/>
          </a:p>
        </p:txBody>
      </p:sp>
      <p:sp>
        <p:nvSpPr>
          <p:cNvPr id="400" name="Google Shape;400;g3a5a5b23e9e_0_25"/>
          <p:cNvSpPr txBox="1"/>
          <p:nvPr/>
        </p:nvSpPr>
        <p:spPr>
          <a:xfrm>
            <a:off x="640080" y="1097280"/>
            <a:ext cx="786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restituisce sempre un oggetto con la stessa classe di quello originale, può essere usato per selezionare più elementi. Sintassi: 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oggetto[righe, colonne]</a:t>
            </a:r>
            <a:endParaRPr/>
          </a:p>
        </p:txBody>
      </p:sp>
      <p:sp>
        <p:nvSpPr>
          <p:cNvPr id="401" name="Google Shape;401;g3a5a5b23e9e_0_25"/>
          <p:cNvSpPr txBox="1"/>
          <p:nvPr/>
        </p:nvSpPr>
        <p:spPr>
          <a:xfrm>
            <a:off x="640080" y="1920240"/>
            <a:ext cx="3931800" cy="3586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anni genere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1   21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2   34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3   67      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4   45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x[3, 1]         # Riga 3, Colonna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67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x[c(1,4), 2]    # Righe 1 e 4, Colonna 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M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F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x[2, ]          # Tutta la riga 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anni genere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2   34      M</a:t>
            </a:r>
            <a:endParaRPr/>
          </a:p>
        </p:txBody>
      </p:sp>
      <p:sp>
        <p:nvSpPr>
          <p:cNvPr id="402" name="Google Shape;402;g3a5a5b23e9e_0_25"/>
          <p:cNvSpPr txBox="1"/>
          <p:nvPr/>
        </p:nvSpPr>
        <p:spPr>
          <a:xfrm>
            <a:off x="4754880" y="1920240"/>
            <a:ext cx="3749100" cy="3170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Condizioni logiche: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x[x$anni &gt; 30, 1]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34 67 45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x[x$anni &lt; 30 | x$anni &gt; 60, 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anni genere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1   21     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3   67      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Escludere righe (con -):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x[-c(1, 4), 2]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M 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F M</a:t>
            </a:r>
            <a:endParaRPr/>
          </a:p>
        </p:txBody>
      </p:sp>
      <p:sp>
        <p:nvSpPr>
          <p:cNvPr id="403" name="Google Shape;403;g3a5a5b23e9e_0_25"/>
          <p:cNvSpPr txBox="1"/>
          <p:nvPr/>
        </p:nvSpPr>
        <p:spPr>
          <a:xfrm>
            <a:off x="640080" y="6126480"/>
            <a:ext cx="7863900" cy="4770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Trucchi: 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x[, ] = tutto  |  x[2, ] = riga 2  |  x[, 3] = colonna 3  |  x[c(1,3), ] = righe 1 e 3  |  x[-2, ] = escludi riga 2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Indicizzazione - Accedere agli elementi</a:t>
            </a:r>
            <a:endParaRPr/>
          </a:p>
        </p:txBody>
      </p:sp>
      <p:sp>
        <p:nvSpPr>
          <p:cNvPr id="409" name="Google Shape;409;p19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L'indicizzazione permette di estrarre elementi specifici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1097280" y="2103120"/>
            <a:ext cx="6949440" cy="25603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Vettori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 &lt;- c(10, 20, 30, 40, 50)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x[3]        # Terzo elemento: 30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x[c(1,3,5)] # Elementi 1, 3 e 5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x[2:4]      # Dal 2° al 4° elemento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Matrici e Data Frame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df[2, 3]    # Riga 2, colonna 3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df[2, ]     # Tutta la riga 2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df[, 3]     # Tutta la colonna 3</a:t>
            </a:r>
            <a:b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df$nome     # Colonna "nome" (solo data frame)</a:t>
            </a:r>
            <a:endParaRPr/>
          </a:p>
        </p:txBody>
      </p:sp>
      <p:sp>
        <p:nvSpPr>
          <p:cNvPr id="411" name="Google Shape;411;p19"/>
          <p:cNvSpPr txBox="1"/>
          <p:nvPr/>
        </p:nvSpPr>
        <p:spPr>
          <a:xfrm>
            <a:off x="1371600" y="4937760"/>
            <a:ext cx="6400800" cy="731520"/>
          </a:xfrm>
          <a:prstGeom prst="rect">
            <a:avLst/>
          </a:prstGeom>
          <a:solidFill>
            <a:srgbClr val="FFFAC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Importante: in R gli indici partono da 1, non da 0 (come Python/Java)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5a5b23e9e_0_10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Operatori Logici</a:t>
            </a:r>
            <a:endParaRPr/>
          </a:p>
        </p:txBody>
      </p:sp>
      <p:sp>
        <p:nvSpPr>
          <p:cNvPr id="417" name="Google Shape;417;g3a5a5b23e9e_0_108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Operatori logici per combinare condizioni e creare filtri complessi:</a:t>
            </a:r>
            <a:endParaRPr/>
          </a:p>
        </p:txBody>
      </p:sp>
      <p:sp>
        <p:nvSpPr>
          <p:cNvPr id="418" name="Google Shape;418;g3a5a5b23e9e_0_108"/>
          <p:cNvSpPr txBox="1"/>
          <p:nvPr/>
        </p:nvSpPr>
        <p:spPr>
          <a:xfrm>
            <a:off x="640080" y="1737360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endParaRPr/>
          </a:p>
        </p:txBody>
      </p:sp>
      <p:sp>
        <p:nvSpPr>
          <p:cNvPr id="419" name="Google Shape;419;g3a5a5b23e9e_0_108"/>
          <p:cNvSpPr txBox="1"/>
          <p:nvPr/>
        </p:nvSpPr>
        <p:spPr>
          <a:xfrm>
            <a:off x="1691640" y="1737360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</p:txBody>
      </p:sp>
      <p:sp>
        <p:nvSpPr>
          <p:cNvPr id="420" name="Google Shape;420;g3a5a5b23e9e_0_108"/>
          <p:cNvSpPr txBox="1"/>
          <p:nvPr/>
        </p:nvSpPr>
        <p:spPr>
          <a:xfrm>
            <a:off x="3474720" y="1737360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Entrambe le condizioni devono essere vere</a:t>
            </a:r>
            <a:endParaRPr/>
          </a:p>
        </p:txBody>
      </p:sp>
      <p:sp>
        <p:nvSpPr>
          <p:cNvPr id="421" name="Google Shape;421;g3a5a5b23e9e_0_108"/>
          <p:cNvSpPr txBox="1"/>
          <p:nvPr/>
        </p:nvSpPr>
        <p:spPr>
          <a:xfrm>
            <a:off x="6217920" y="1737360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&gt; 5 &amp; x &lt; 10</a:t>
            </a:r>
            <a:endParaRPr/>
          </a:p>
        </p:txBody>
      </p:sp>
      <p:sp>
        <p:nvSpPr>
          <p:cNvPr id="422" name="Google Shape;422;g3a5a5b23e9e_0_108"/>
          <p:cNvSpPr txBox="1"/>
          <p:nvPr/>
        </p:nvSpPr>
        <p:spPr>
          <a:xfrm>
            <a:off x="640080" y="2212848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/>
          </a:p>
        </p:txBody>
      </p:sp>
      <p:sp>
        <p:nvSpPr>
          <p:cNvPr id="423" name="Google Shape;423;g3a5a5b23e9e_0_108"/>
          <p:cNvSpPr txBox="1"/>
          <p:nvPr/>
        </p:nvSpPr>
        <p:spPr>
          <a:xfrm>
            <a:off x="1691640" y="2212848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</p:txBody>
      </p:sp>
      <p:sp>
        <p:nvSpPr>
          <p:cNvPr id="424" name="Google Shape;424;g3a5a5b23e9e_0_108"/>
          <p:cNvSpPr txBox="1"/>
          <p:nvPr/>
        </p:nvSpPr>
        <p:spPr>
          <a:xfrm>
            <a:off x="3474720" y="2212848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Almeno una condizione deve essere vera</a:t>
            </a:r>
            <a:endParaRPr/>
          </a:p>
        </p:txBody>
      </p:sp>
      <p:sp>
        <p:nvSpPr>
          <p:cNvPr id="425" name="Google Shape;425;g3a5a5b23e9e_0_108"/>
          <p:cNvSpPr txBox="1"/>
          <p:nvPr/>
        </p:nvSpPr>
        <p:spPr>
          <a:xfrm>
            <a:off x="6217920" y="2212848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&lt; 5 | x &gt; 10</a:t>
            </a:r>
            <a:endParaRPr/>
          </a:p>
        </p:txBody>
      </p:sp>
      <p:sp>
        <p:nvSpPr>
          <p:cNvPr id="426" name="Google Shape;426;g3a5a5b23e9e_0_108"/>
          <p:cNvSpPr txBox="1"/>
          <p:nvPr/>
        </p:nvSpPr>
        <p:spPr>
          <a:xfrm>
            <a:off x="640080" y="2688336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/>
          </a:p>
        </p:txBody>
      </p:sp>
      <p:sp>
        <p:nvSpPr>
          <p:cNvPr id="427" name="Google Shape;427;g3a5a5b23e9e_0_108"/>
          <p:cNvSpPr txBox="1"/>
          <p:nvPr/>
        </p:nvSpPr>
        <p:spPr>
          <a:xfrm>
            <a:off x="1691640" y="2688336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endParaRPr/>
          </a:p>
        </p:txBody>
      </p:sp>
      <p:sp>
        <p:nvSpPr>
          <p:cNvPr id="428" name="Google Shape;428;g3a5a5b23e9e_0_108"/>
          <p:cNvSpPr txBox="1"/>
          <p:nvPr/>
        </p:nvSpPr>
        <p:spPr>
          <a:xfrm>
            <a:off x="3474720" y="2688336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Negazione - inverte la condizione</a:t>
            </a:r>
            <a:endParaRPr/>
          </a:p>
        </p:txBody>
      </p:sp>
      <p:sp>
        <p:nvSpPr>
          <p:cNvPr id="429" name="Google Shape;429;g3a5a5b23e9e_0_108"/>
          <p:cNvSpPr txBox="1"/>
          <p:nvPr/>
        </p:nvSpPr>
        <p:spPr>
          <a:xfrm>
            <a:off x="6217920" y="2688336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!(x &gt; 5)</a:t>
            </a:r>
            <a:endParaRPr/>
          </a:p>
        </p:txBody>
      </p:sp>
      <p:sp>
        <p:nvSpPr>
          <p:cNvPr id="430" name="Google Shape;430;g3a5a5b23e9e_0_108"/>
          <p:cNvSpPr txBox="1"/>
          <p:nvPr/>
        </p:nvSpPr>
        <p:spPr>
          <a:xfrm>
            <a:off x="640080" y="3163824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/>
          </a:p>
        </p:txBody>
      </p:sp>
      <p:sp>
        <p:nvSpPr>
          <p:cNvPr id="431" name="Google Shape;431;g3a5a5b23e9e_0_108"/>
          <p:cNvSpPr txBox="1"/>
          <p:nvPr/>
        </p:nvSpPr>
        <p:spPr>
          <a:xfrm>
            <a:off x="1691640" y="3163824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uguale</a:t>
            </a:r>
            <a:endParaRPr/>
          </a:p>
        </p:txBody>
      </p:sp>
      <p:sp>
        <p:nvSpPr>
          <p:cNvPr id="432" name="Google Shape;432;g3a5a5b23e9e_0_108"/>
          <p:cNvSpPr txBox="1"/>
          <p:nvPr/>
        </p:nvSpPr>
        <p:spPr>
          <a:xfrm>
            <a:off x="3474720" y="3163824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Esattamente uguale</a:t>
            </a:r>
            <a:endParaRPr/>
          </a:p>
        </p:txBody>
      </p:sp>
      <p:sp>
        <p:nvSpPr>
          <p:cNvPr id="433" name="Google Shape;433;g3a5a5b23e9e_0_108"/>
          <p:cNvSpPr txBox="1"/>
          <p:nvPr/>
        </p:nvSpPr>
        <p:spPr>
          <a:xfrm>
            <a:off x="6217920" y="3163824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== 5</a:t>
            </a:r>
            <a:endParaRPr/>
          </a:p>
        </p:txBody>
      </p:sp>
      <p:sp>
        <p:nvSpPr>
          <p:cNvPr id="434" name="Google Shape;434;g3a5a5b23e9e_0_108"/>
          <p:cNvSpPr txBox="1"/>
          <p:nvPr/>
        </p:nvSpPr>
        <p:spPr>
          <a:xfrm>
            <a:off x="640080" y="3639312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endParaRPr/>
          </a:p>
        </p:txBody>
      </p:sp>
      <p:sp>
        <p:nvSpPr>
          <p:cNvPr id="435" name="Google Shape;435;g3a5a5b23e9e_0_108"/>
          <p:cNvSpPr txBox="1"/>
          <p:nvPr/>
        </p:nvSpPr>
        <p:spPr>
          <a:xfrm>
            <a:off x="1691640" y="3639312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diverso</a:t>
            </a:r>
            <a:endParaRPr/>
          </a:p>
        </p:txBody>
      </p:sp>
      <p:sp>
        <p:nvSpPr>
          <p:cNvPr id="436" name="Google Shape;436;g3a5a5b23e9e_0_108"/>
          <p:cNvSpPr txBox="1"/>
          <p:nvPr/>
        </p:nvSpPr>
        <p:spPr>
          <a:xfrm>
            <a:off x="3474720" y="3639312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Diverso da</a:t>
            </a:r>
            <a:endParaRPr/>
          </a:p>
        </p:txBody>
      </p:sp>
      <p:sp>
        <p:nvSpPr>
          <p:cNvPr id="437" name="Google Shape;437;g3a5a5b23e9e_0_108"/>
          <p:cNvSpPr txBox="1"/>
          <p:nvPr/>
        </p:nvSpPr>
        <p:spPr>
          <a:xfrm>
            <a:off x="6217920" y="3639312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!= 5</a:t>
            </a:r>
            <a:endParaRPr/>
          </a:p>
        </p:txBody>
      </p:sp>
      <p:sp>
        <p:nvSpPr>
          <p:cNvPr id="438" name="Google Shape;438;g3a5a5b23e9e_0_108"/>
          <p:cNvSpPr txBox="1"/>
          <p:nvPr/>
        </p:nvSpPr>
        <p:spPr>
          <a:xfrm>
            <a:off x="640080" y="4114800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endParaRPr/>
          </a:p>
        </p:txBody>
      </p:sp>
      <p:sp>
        <p:nvSpPr>
          <p:cNvPr id="439" name="Google Shape;439;g3a5a5b23e9e_0_108"/>
          <p:cNvSpPr txBox="1"/>
          <p:nvPr/>
        </p:nvSpPr>
        <p:spPr>
          <a:xfrm>
            <a:off x="1691640" y="4114800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minore</a:t>
            </a:r>
            <a:endParaRPr/>
          </a:p>
        </p:txBody>
      </p:sp>
      <p:sp>
        <p:nvSpPr>
          <p:cNvPr id="440" name="Google Shape;440;g3a5a5b23e9e_0_108"/>
          <p:cNvSpPr txBox="1"/>
          <p:nvPr/>
        </p:nvSpPr>
        <p:spPr>
          <a:xfrm>
            <a:off x="3474720" y="4114800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Minore di</a:t>
            </a:r>
            <a:endParaRPr/>
          </a:p>
        </p:txBody>
      </p:sp>
      <p:sp>
        <p:nvSpPr>
          <p:cNvPr id="441" name="Google Shape;441;g3a5a5b23e9e_0_108"/>
          <p:cNvSpPr txBox="1"/>
          <p:nvPr/>
        </p:nvSpPr>
        <p:spPr>
          <a:xfrm>
            <a:off x="6217920" y="4114800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&lt; 5</a:t>
            </a:r>
            <a:endParaRPr/>
          </a:p>
        </p:txBody>
      </p:sp>
      <p:sp>
        <p:nvSpPr>
          <p:cNvPr id="442" name="Google Shape;442;g3a5a5b23e9e_0_108"/>
          <p:cNvSpPr txBox="1"/>
          <p:nvPr/>
        </p:nvSpPr>
        <p:spPr>
          <a:xfrm>
            <a:off x="640080" y="4590288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</p:txBody>
      </p:sp>
      <p:sp>
        <p:nvSpPr>
          <p:cNvPr id="443" name="Google Shape;443;g3a5a5b23e9e_0_108"/>
          <p:cNvSpPr txBox="1"/>
          <p:nvPr/>
        </p:nvSpPr>
        <p:spPr>
          <a:xfrm>
            <a:off x="1691640" y="4590288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maggiore</a:t>
            </a:r>
            <a:endParaRPr/>
          </a:p>
        </p:txBody>
      </p:sp>
      <p:sp>
        <p:nvSpPr>
          <p:cNvPr id="444" name="Google Shape;444;g3a5a5b23e9e_0_108"/>
          <p:cNvSpPr txBox="1"/>
          <p:nvPr/>
        </p:nvSpPr>
        <p:spPr>
          <a:xfrm>
            <a:off x="3474720" y="4590288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Maggiore di</a:t>
            </a:r>
            <a:endParaRPr/>
          </a:p>
        </p:txBody>
      </p:sp>
      <p:sp>
        <p:nvSpPr>
          <p:cNvPr id="445" name="Google Shape;445;g3a5a5b23e9e_0_108"/>
          <p:cNvSpPr txBox="1"/>
          <p:nvPr/>
        </p:nvSpPr>
        <p:spPr>
          <a:xfrm>
            <a:off x="6217920" y="4590288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&gt; 5</a:t>
            </a:r>
            <a:endParaRPr/>
          </a:p>
        </p:txBody>
      </p:sp>
      <p:sp>
        <p:nvSpPr>
          <p:cNvPr id="446" name="Google Shape;446;g3a5a5b23e9e_0_108"/>
          <p:cNvSpPr txBox="1"/>
          <p:nvPr/>
        </p:nvSpPr>
        <p:spPr>
          <a:xfrm>
            <a:off x="640080" y="5065775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endParaRPr/>
          </a:p>
        </p:txBody>
      </p:sp>
      <p:sp>
        <p:nvSpPr>
          <p:cNvPr id="447" name="Google Shape;447;g3a5a5b23e9e_0_108"/>
          <p:cNvSpPr txBox="1"/>
          <p:nvPr/>
        </p:nvSpPr>
        <p:spPr>
          <a:xfrm>
            <a:off x="1691640" y="5065775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minore o uguale</a:t>
            </a:r>
            <a:endParaRPr/>
          </a:p>
        </p:txBody>
      </p:sp>
      <p:sp>
        <p:nvSpPr>
          <p:cNvPr id="448" name="Google Shape;448;g3a5a5b23e9e_0_108"/>
          <p:cNvSpPr txBox="1"/>
          <p:nvPr/>
        </p:nvSpPr>
        <p:spPr>
          <a:xfrm>
            <a:off x="3474720" y="5065775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Minore o uguale a</a:t>
            </a:r>
            <a:endParaRPr/>
          </a:p>
        </p:txBody>
      </p:sp>
      <p:sp>
        <p:nvSpPr>
          <p:cNvPr id="449" name="Google Shape;449;g3a5a5b23e9e_0_108"/>
          <p:cNvSpPr txBox="1"/>
          <p:nvPr/>
        </p:nvSpPr>
        <p:spPr>
          <a:xfrm>
            <a:off x="6217920" y="5065775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&lt;= 5</a:t>
            </a:r>
            <a:endParaRPr/>
          </a:p>
        </p:txBody>
      </p:sp>
      <p:sp>
        <p:nvSpPr>
          <p:cNvPr id="450" name="Google Shape;450;g3a5a5b23e9e_0_108"/>
          <p:cNvSpPr txBox="1"/>
          <p:nvPr/>
        </p:nvSpPr>
        <p:spPr>
          <a:xfrm>
            <a:off x="640080" y="5541263"/>
            <a:ext cx="914400" cy="307800"/>
          </a:xfrm>
          <a:prstGeom prst="rect">
            <a:avLst/>
          </a:prstGeom>
          <a:solidFill>
            <a:srgbClr val="E6F0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endParaRPr/>
          </a:p>
        </p:txBody>
      </p:sp>
      <p:sp>
        <p:nvSpPr>
          <p:cNvPr id="451" name="Google Shape;451;g3a5a5b23e9e_0_108"/>
          <p:cNvSpPr txBox="1"/>
          <p:nvPr/>
        </p:nvSpPr>
        <p:spPr>
          <a:xfrm>
            <a:off x="1691640" y="5541263"/>
            <a:ext cx="1645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maggiore o uguale</a:t>
            </a:r>
            <a:endParaRPr/>
          </a:p>
        </p:txBody>
      </p:sp>
      <p:sp>
        <p:nvSpPr>
          <p:cNvPr id="452" name="Google Shape;452;g3a5a5b23e9e_0_108"/>
          <p:cNvSpPr txBox="1"/>
          <p:nvPr/>
        </p:nvSpPr>
        <p:spPr>
          <a:xfrm>
            <a:off x="3474720" y="5541263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Maggiore o uguale a</a:t>
            </a:r>
            <a:endParaRPr/>
          </a:p>
        </p:txBody>
      </p:sp>
      <p:sp>
        <p:nvSpPr>
          <p:cNvPr id="453" name="Google Shape;453;g3a5a5b23e9e_0_108"/>
          <p:cNvSpPr txBox="1"/>
          <p:nvPr/>
        </p:nvSpPr>
        <p:spPr>
          <a:xfrm>
            <a:off x="6217920" y="5541263"/>
            <a:ext cx="228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6400"/>
                </a:solidFill>
                <a:latin typeface="Courier New"/>
                <a:ea typeface="Courier New"/>
                <a:cs typeface="Courier New"/>
                <a:sym typeface="Courier New"/>
              </a:rPr>
              <a:t>x &gt;= 5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5a5b23e9e_0_14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Richiamo di Vettori - attach() e detach()</a:t>
            </a:r>
            <a:endParaRPr/>
          </a:p>
        </p:txBody>
      </p:sp>
      <p:sp>
        <p:nvSpPr>
          <p:cNvPr id="459" name="Google Shape;459;g3a5a5b23e9e_0_149"/>
          <p:cNvSpPr txBox="1"/>
          <p:nvPr/>
        </p:nvSpPr>
        <p:spPr>
          <a:xfrm>
            <a:off x="640080" y="1097280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alcune circostanze è utile poter richiamare uno specifico vettore di un data frame senza usare $ ogni volta. Come visto, è possibile usare l'operatore $:</a:t>
            </a:r>
            <a:endParaRPr/>
          </a:p>
        </p:txBody>
      </p:sp>
      <p:sp>
        <p:nvSpPr>
          <p:cNvPr id="460" name="Google Shape;460;g3a5a5b23e9e_0_149"/>
          <p:cNvSpPr txBox="1"/>
          <p:nvPr/>
        </p:nvSpPr>
        <p:spPr>
          <a:xfrm>
            <a:off x="640080" y="1920240"/>
            <a:ext cx="7863900" cy="469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x$peso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81.4 72.3 54.8 76.4 47.3</a:t>
            </a:r>
            <a:endParaRPr/>
          </a:p>
        </p:txBody>
      </p:sp>
      <p:sp>
        <p:nvSpPr>
          <p:cNvPr id="461" name="Google Shape;461;g3a5a5b23e9e_0_149"/>
          <p:cNvSpPr txBox="1"/>
          <p:nvPr/>
        </p:nvSpPr>
        <p:spPr>
          <a:xfrm>
            <a:off x="640080" y="2697480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alternativa è possibile usare la funzione </a:t>
            </a: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attach()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 modo da poter richiamare il vettore semplicemente con il suo nome:</a:t>
            </a:r>
            <a:endParaRPr/>
          </a:p>
        </p:txBody>
      </p:sp>
      <p:sp>
        <p:nvSpPr>
          <p:cNvPr id="462" name="Google Shape;462;g3a5a5b23e9e_0_149"/>
          <p:cNvSpPr txBox="1"/>
          <p:nvPr/>
        </p:nvSpPr>
        <p:spPr>
          <a:xfrm>
            <a:off x="640080" y="3291840"/>
            <a:ext cx="7863900" cy="1300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attach(x)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The following objects are masked from .GlobalEnv: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anni, celibe, genere, peso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peso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81.4 72.3 54.8 76.4 47.3</a:t>
            </a:r>
            <a:endParaRPr/>
          </a:p>
        </p:txBody>
      </p:sp>
      <p:sp>
        <p:nvSpPr>
          <p:cNvPr id="463" name="Google Shape;463;g3a5a5b23e9e_0_149"/>
          <p:cNvSpPr txBox="1"/>
          <p:nvPr/>
        </p:nvSpPr>
        <p:spPr>
          <a:xfrm>
            <a:off x="640080" y="5029200"/>
            <a:ext cx="786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eliminare l'effetto della funzione attach() si utilizza </a:t>
            </a: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detach()</a:t>
            </a:r>
            <a:endParaRPr/>
          </a:p>
        </p:txBody>
      </p:sp>
      <p:sp>
        <p:nvSpPr>
          <p:cNvPr id="464" name="Google Shape;464;g3a5a5b23e9e_0_149"/>
          <p:cNvSpPr txBox="1"/>
          <p:nvPr/>
        </p:nvSpPr>
        <p:spPr>
          <a:xfrm>
            <a:off x="640080" y="5532120"/>
            <a:ext cx="7863900" cy="7542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SCONSIGLIATO!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attach() può causare errori se ci sono variabili con nomi simili nell'ambiente. Le variabili vengono "mascherate" e possono generare confusione. Ricordatevi SEMPRE di fare detach() quando finite!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5a5b23e9e_0_15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Modifica Oggetti - Singolo Elemento</a:t>
            </a:r>
            <a:endParaRPr/>
          </a:p>
        </p:txBody>
      </p:sp>
      <p:sp>
        <p:nvSpPr>
          <p:cNvPr id="470" name="Google Shape;470;g3a5a5b23e9e_0_159"/>
          <p:cNvSpPr txBox="1"/>
          <p:nvPr/>
        </p:nvSpPr>
        <p:spPr>
          <a:xfrm>
            <a:off x="640080" y="1097280"/>
            <a:ext cx="786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modifica degli elementi avviene tramite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nuova assegnazione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combinando indicizzazione e assegnazione:</a:t>
            </a:r>
            <a:endParaRPr/>
          </a:p>
        </p:txBody>
      </p:sp>
      <p:sp>
        <p:nvSpPr>
          <p:cNvPr id="471" name="Google Shape;471;g3a5a5b23e9e_0_159"/>
          <p:cNvSpPr txBox="1"/>
          <p:nvPr/>
        </p:nvSpPr>
        <p:spPr>
          <a:xfrm>
            <a:off x="640080" y="1828800"/>
            <a:ext cx="3657600" cy="1677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c(4, 5, 6, 7)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4 5 6 7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x[4] &lt;- 2        # Sostituzione elemento 4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4 5 6 2</a:t>
            </a:r>
            <a:endParaRPr/>
          </a:p>
        </p:txBody>
      </p:sp>
      <p:sp>
        <p:nvSpPr>
          <p:cNvPr id="472" name="Google Shape;472;g3a5a5b23e9e_0_159"/>
          <p:cNvSpPr txBox="1"/>
          <p:nvPr/>
        </p:nvSpPr>
        <p:spPr>
          <a:xfrm>
            <a:off x="4572000" y="1828800"/>
            <a:ext cx="3931800" cy="2755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matrix(1:12, nrow=3, ncol=4)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[,1] [,2] [,3] [,4]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   1    4    7   10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   2    5    8   11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[3,]    3    6    9   12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y[2, 3] &lt;- 80    # Riga 2, Col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[,1] [,2] [,3] [,4]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   1    4    7   10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   2    5   80   11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[3,]    3    6    9   12</a:t>
            </a:r>
            <a:endParaRPr/>
          </a:p>
        </p:txBody>
      </p:sp>
      <p:sp>
        <p:nvSpPr>
          <p:cNvPr id="473" name="Google Shape;473;g3a5a5b23e9e_0_159"/>
          <p:cNvSpPr txBox="1"/>
          <p:nvPr/>
        </p:nvSpPr>
        <p:spPr>
          <a:xfrm>
            <a:off x="640080" y="4114800"/>
            <a:ext cx="3657600" cy="19086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Regole: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Vettori: x[indice] &lt;- valore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Matrici: y[riga, col] &lt;- valore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Il nuovo valore deve essere dello stesso tipo, altrimenti coercizione!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a5b23e9e_0_167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Modifica Oggetti - Colonna Intera</a:t>
            </a:r>
            <a:endParaRPr/>
          </a:p>
        </p:txBody>
      </p:sp>
      <p:sp>
        <p:nvSpPr>
          <p:cNvPr id="479" name="Google Shape;479;g3a5a5b23e9e_0_167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 possibile sostituire intere righe o colonne:</a:t>
            </a:r>
            <a:endParaRPr/>
          </a:p>
        </p:txBody>
      </p:sp>
      <p:sp>
        <p:nvSpPr>
          <p:cNvPr id="480" name="Google Shape;480;g3a5a5b23e9e_0_167"/>
          <p:cNvSpPr txBox="1"/>
          <p:nvPr/>
        </p:nvSpPr>
        <p:spPr>
          <a:xfrm>
            <a:off x="640080" y="1691640"/>
            <a:ext cx="7863900" cy="2755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matrix(1:12, nrow=3, ncol=4)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[,1] [,2] [,3] [,4]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   1    4    7   10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   2    5    8   11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[3,]    3    6    9   12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y[, 1] &lt;- 30:32    # Sostituzione colonna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[,1] [,2] [,3] [,4]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[1,]   30    4    7   10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[2,]   31    5    8   11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[3,]   32    6    9   12</a:t>
            </a:r>
            <a:endParaRPr/>
          </a:p>
        </p:txBody>
      </p:sp>
      <p:sp>
        <p:nvSpPr>
          <p:cNvPr id="481" name="Google Shape;481;g3a5a5b23e9e_0_167"/>
          <p:cNvSpPr txBox="1"/>
          <p:nvPr/>
        </p:nvSpPr>
        <p:spPr>
          <a:xfrm>
            <a:off x="640080" y="5486400"/>
            <a:ext cx="7863900" cy="4770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Data Frame: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i data frame, quando si sostituisce un'intera colonna, è possibile assegnare una tipologia di dato differente rispetto all'originale (deroga alla regola delle matrici!)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a5b23e9e_0_174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Modifica Attributi - Livelli dei Fattori</a:t>
            </a:r>
            <a:endParaRPr/>
          </a:p>
        </p:txBody>
      </p:sp>
      <p:sp>
        <p:nvSpPr>
          <p:cNvPr id="487" name="Google Shape;487;g3a5a5b23e9e_0_174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funzione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levels()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può essere usata per ricodificare i livelli di un factor:</a:t>
            </a:r>
            <a:endParaRPr/>
          </a:p>
        </p:txBody>
      </p:sp>
      <p:sp>
        <p:nvSpPr>
          <p:cNvPr id="488" name="Google Shape;488;g3a5a5b23e9e_0_174"/>
          <p:cNvSpPr txBox="1"/>
          <p:nvPr/>
        </p:nvSpPr>
        <p:spPr>
          <a:xfrm>
            <a:off x="640080" y="1828800"/>
            <a:ext cx="7863900" cy="2547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factor(c('M', 'F', 'F', 'M', 'M'))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M F F M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F 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levels(x)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"F" "M"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levels(x) &lt;- c('Femmina', 'Maschio')  # Ricodifica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Maschio Femmina Femmina Maschio Maschio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Femmina Maschio</a:t>
            </a:r>
            <a:endParaRPr/>
          </a:p>
        </p:txBody>
      </p:sp>
      <p:sp>
        <p:nvSpPr>
          <p:cNvPr id="489" name="Google Shape;489;g3a5a5b23e9e_0_174"/>
          <p:cNvSpPr txBox="1"/>
          <p:nvPr/>
        </p:nvSpPr>
        <p:spPr>
          <a:xfrm>
            <a:off x="640080" y="5212080"/>
            <a:ext cx="7863900" cy="10260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ATTENZIONE: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L'ordine dei nuovi nomi deve corrispondere all'ordine dei livelli originali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Questa operazione ricodifica, sostituisce o altera i livelli esistenti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Stesso principio vale per nomi di colonne (names()) e righe (row.names())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5a5b23e9e_0_18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Modifica Attributi - Nomi Variabili</a:t>
            </a:r>
            <a:endParaRPr/>
          </a:p>
        </p:txBody>
      </p:sp>
      <p:sp>
        <p:nvSpPr>
          <p:cNvPr id="495" name="Google Shape;495;g3a5a5b23e9e_0_181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 possibile modificare i nomi delle colonne di un data frame:</a:t>
            </a:r>
            <a:endParaRPr/>
          </a:p>
        </p:txBody>
      </p:sp>
      <p:sp>
        <p:nvSpPr>
          <p:cNvPr id="496" name="Google Shape;496;g3a5a5b23e9e_0_181"/>
          <p:cNvSpPr txBox="1"/>
          <p:nvPr/>
        </p:nvSpPr>
        <p:spPr>
          <a:xfrm>
            <a:off x="640080" y="1691640"/>
            <a:ext cx="7863900" cy="2963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data.frame(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an = c(21, 34, 67, 45, 33),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gen = c('M', 'M', 'F', 'M', 'F'),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cel = c(T, T, T, F, F),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px = c(81.4, 72.3, 54.8, 76.4, 47.3)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names(x)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"an"  "gen" "cel" "px"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names(x) &lt;- c('anni', 'genere', 'celibe', 'peso')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names(x)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"anni"   "genere" "celibe" "peso"</a:t>
            </a:r>
            <a:endParaRPr/>
          </a:p>
        </p:txBody>
      </p:sp>
      <p:sp>
        <p:nvSpPr>
          <p:cNvPr id="497" name="Google Shape;497;g3a5a5b23e9e_0_181"/>
          <p:cNvSpPr txBox="1"/>
          <p:nvPr/>
        </p:nvSpPr>
        <p:spPr>
          <a:xfrm>
            <a:off x="640080" y="5760720"/>
            <a:ext cx="7863900" cy="4770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Funzioni utili: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names()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colonne  | 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row.names()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righe  | 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colnames() / rownames()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matrici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a5b23e9e_0_18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Divisione in Classi - Funzione cut()</a:t>
            </a:r>
            <a:endParaRPr/>
          </a:p>
        </p:txBody>
      </p:sp>
      <p:sp>
        <p:nvSpPr>
          <p:cNvPr id="503" name="Google Shape;503;g3a5a5b23e9e_0_188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trasformare una variabile numerica in categorica (factor) usando intervalli, si usa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cut()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504" name="Google Shape;504;g3a5a5b23e9e_0_188"/>
          <p:cNvSpPr txBox="1"/>
          <p:nvPr/>
        </p:nvSpPr>
        <p:spPr>
          <a:xfrm>
            <a:off x="640080" y="1828800"/>
            <a:ext cx="7863900" cy="2339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peso &lt;- c(81.4, 72.3, 54.8, 76.4, 47.3)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class(peso)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"numeric"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peso2 &lt;- cut(peso, breaks = c(0, 40, 60, 80, 100))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peso2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(80,100] (60,80]  (40,60]  (60,80]  (40,60]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Levels: (0,40] (40,60] (60,80] (80,100]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class(peso2)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"factor"</a:t>
            </a:r>
            <a:endParaRPr/>
          </a:p>
        </p:txBody>
      </p:sp>
      <p:sp>
        <p:nvSpPr>
          <p:cNvPr id="505" name="Google Shape;505;g3a5a5b23e9e_0_188"/>
          <p:cNvSpPr txBox="1"/>
          <p:nvPr/>
        </p:nvSpPr>
        <p:spPr>
          <a:xfrm>
            <a:off x="640080" y="5029200"/>
            <a:ext cx="7863900" cy="12621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 Come funziona: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breaks = c(0, 40, 60, 80, 100) crea 4 intervalli: (0,40], (40,60], (60,80], (80,100]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Notazione: (0,40] significa "da 0 escluso a 40 incluso"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ATTENZIONE: l'estremo sinistro è escluso! Usare include.lowest = TRUE per includere il minimo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Valori fuori dagli intervalli diventano NA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5a5b23e9e_0_27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Funzioni Personalizzate</a:t>
            </a:r>
            <a:endParaRPr/>
          </a:p>
        </p:txBody>
      </p:sp>
      <p:sp>
        <p:nvSpPr>
          <p:cNvPr id="511" name="Google Shape;511;g3a5a5b23e9e_0_279"/>
          <p:cNvSpPr txBox="1"/>
          <p:nvPr/>
        </p:nvSpPr>
        <p:spPr>
          <a:xfrm>
            <a:off x="640080" y="1097280"/>
            <a:ext cx="786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creare funzioni personalizzate, si usa la keyword </a:t>
            </a:r>
            <a:r>
              <a:rPr b="1" i="0" lang="en-US" sz="15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Le funzioni in R sono variabili come le altre!</a:t>
            </a:r>
            <a:endParaRPr/>
          </a:p>
        </p:txBody>
      </p:sp>
      <p:sp>
        <p:nvSpPr>
          <p:cNvPr id="512" name="Google Shape;512;g3a5a5b23e9e_0_279"/>
          <p:cNvSpPr txBox="1"/>
          <p:nvPr/>
        </p:nvSpPr>
        <p:spPr>
          <a:xfrm>
            <a:off x="640080" y="1783080"/>
            <a:ext cx="7863900" cy="12621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📌 Sintassi generale: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nome_funzione &lt;- function(par1, par2, ..., parN) {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   # corpo della funzione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return(risultato)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513" name="Google Shape;513;g3a5a5b23e9e_0_279"/>
          <p:cNvSpPr txBox="1"/>
          <p:nvPr/>
        </p:nvSpPr>
        <p:spPr>
          <a:xfrm>
            <a:off x="640080" y="3231610"/>
            <a:ext cx="3657600" cy="1885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Creo la funzione che stampa 'Hello world!'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hello_world &lt;- function() {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print('Hello world!')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Uso la funzione hello_world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hello_world()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'Hello world!'</a:t>
            </a:r>
            <a:endParaRPr/>
          </a:p>
        </p:txBody>
      </p:sp>
      <p:sp>
        <p:nvSpPr>
          <p:cNvPr id="514" name="Google Shape;514;g3a5a5b23e9e_0_279"/>
          <p:cNvSpPr txBox="1"/>
          <p:nvPr/>
        </p:nvSpPr>
        <p:spPr>
          <a:xfrm>
            <a:off x="4572000" y="3132335"/>
            <a:ext cx="3931800" cy="2339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Parametri con valori di default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dividi &lt;- function(dividendo,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           divisore = 2) {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return(dividendo / divisore)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dividi(10)      # Usa divisore=2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dividi(10, 4)   # Specifica divisore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2.5</a:t>
            </a:r>
            <a:endParaRPr/>
          </a:p>
        </p:txBody>
      </p:sp>
      <p:sp>
        <p:nvSpPr>
          <p:cNvPr id="515" name="Google Shape;515;g3a5a5b23e9e_0_279"/>
          <p:cNvSpPr txBox="1"/>
          <p:nvPr/>
        </p:nvSpPr>
        <p:spPr>
          <a:xfrm>
            <a:off x="640080" y="5559170"/>
            <a:ext cx="7863900" cy="11748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Note importanti: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 funzioni sono oggetti come le variabili - possono essere assegnate, passate come parametri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 parametri possono avere valori di default (divisore = 2)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 un parametro ha default, può essere omesso nella chiamata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return() restituisce il risultato (se omesso, restituisce l'ultima espressione calcolata)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5a5b23e9e_0_28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Funzioni di Supporto</a:t>
            </a:r>
            <a:endParaRPr/>
          </a:p>
        </p:txBody>
      </p:sp>
      <p:sp>
        <p:nvSpPr>
          <p:cNvPr id="521" name="Google Shape;521;g3a5a5b23e9e_0_288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Funzioni utili per ricerca, identificazione e ordinamento nei vettori:</a:t>
            </a:r>
            <a:endParaRPr/>
          </a:p>
        </p:txBody>
      </p:sp>
      <p:sp>
        <p:nvSpPr>
          <p:cNvPr id="522" name="Google Shape;522;g3a5a5b23e9e_0_288"/>
          <p:cNvSpPr txBox="1"/>
          <p:nvPr/>
        </p:nvSpPr>
        <p:spPr>
          <a:xfrm>
            <a:off x="640080" y="1691640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🔍 RICERCA</a:t>
            </a:r>
            <a:endParaRPr/>
          </a:p>
        </p:txBody>
      </p:sp>
      <p:sp>
        <p:nvSpPr>
          <p:cNvPr id="523" name="Google Shape;523;g3a5a5b23e9e_0_288"/>
          <p:cNvSpPr txBox="1"/>
          <p:nvPr/>
        </p:nvSpPr>
        <p:spPr>
          <a:xfrm>
            <a:off x="640080" y="2103120"/>
            <a:ext cx="3657600" cy="2755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c(-2, 5, 0, 8, -1, 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which(x &gt; 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 4 6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Indici degli elementi &gt; 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which.min(x)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Indice del minimo (-2)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which.max(x)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4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Indice del massimo (8)</a:t>
            </a:r>
            <a:endParaRPr/>
          </a:p>
        </p:txBody>
      </p:sp>
      <p:sp>
        <p:nvSpPr>
          <p:cNvPr id="524" name="Google Shape;524;g3a5a5b23e9e_0_288"/>
          <p:cNvSpPr txBox="1"/>
          <p:nvPr/>
        </p:nvSpPr>
        <p:spPr>
          <a:xfrm>
            <a:off x="4572000" y="1691640"/>
            <a:ext cx="393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↕️ ORDINAMENTO</a:t>
            </a:r>
            <a:endParaRPr/>
          </a:p>
        </p:txBody>
      </p:sp>
      <p:sp>
        <p:nvSpPr>
          <p:cNvPr id="525" name="Google Shape;525;g3a5a5b23e9e_0_288"/>
          <p:cNvSpPr txBox="1"/>
          <p:nvPr/>
        </p:nvSpPr>
        <p:spPr>
          <a:xfrm>
            <a:off x="4572000" y="2103120"/>
            <a:ext cx="3931800" cy="2963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c(5, 2, 8, 1, 9)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sort(x)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1 2 5 8 9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Vettore ordinato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sort(x, decreasing = TRUE)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9 8 5 2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Ordine decrescente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order(x)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4 2 1 3 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Posizioni per ordinare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x[order(x)] = sort(x)</a:t>
            </a:r>
            <a:endParaRPr/>
          </a:p>
        </p:txBody>
      </p:sp>
      <p:sp>
        <p:nvSpPr>
          <p:cNvPr id="526" name="Google Shape;526;g3a5a5b23e9e_0_288"/>
          <p:cNvSpPr txBox="1"/>
          <p:nvPr/>
        </p:nvSpPr>
        <p:spPr>
          <a:xfrm>
            <a:off x="640080" y="5394960"/>
            <a:ext cx="7863900" cy="127740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Differenza tra sort() e order():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sort(x) restituisce i VALORI ordinati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order(x) restituisce gli INDICI che ordinerebbero il vettore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order() è utile per ordinare data frame: df[order(df$colonna), ]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Entrambe hanno il parametro decreasing = TRUE/FALSE per l'ordine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5a5b23e9e_0_270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4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bc4445f0a_0_172"/>
          <p:cNvSpPr txBox="1"/>
          <p:nvPr/>
        </p:nvSpPr>
        <p:spPr>
          <a:xfrm>
            <a:off x="2755625" y="2727125"/>
            <a:ext cx="3404700" cy="1077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Esercitazione</a:t>
            </a:r>
            <a:endParaRPr b="1" sz="3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Dati</a:t>
            </a:r>
            <a:endParaRPr b="1" sz="32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bc4445f0a_0_0"/>
          <p:cNvSpPr txBox="1"/>
          <p:nvPr/>
        </p:nvSpPr>
        <p:spPr>
          <a:xfrm>
            <a:off x="1822332" y="2256075"/>
            <a:ext cx="619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ed Esportazione Dati</a:t>
            </a:r>
            <a:endParaRPr/>
          </a:p>
        </p:txBody>
      </p:sp>
      <p:sp>
        <p:nvSpPr>
          <p:cNvPr id="542" name="Google Shape;542;g3abc4445f0a_0_0"/>
          <p:cNvSpPr txBox="1"/>
          <p:nvPr/>
        </p:nvSpPr>
        <p:spPr>
          <a:xfrm>
            <a:off x="2174825" y="3495995"/>
            <a:ext cx="5486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📥 Acquisizione dati</a:t>
            </a:r>
            <a:endParaRPr/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📂 Importazione</a:t>
            </a:r>
            <a:endParaRPr/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📤 Esportazione</a:t>
            </a:r>
            <a:endParaRPr/>
          </a:p>
        </p:txBody>
      </p:sp>
      <p:sp>
        <p:nvSpPr>
          <p:cNvPr id="543" name="Google Shape;543;g3abc4445f0a_0_0"/>
          <p:cNvSpPr txBox="1"/>
          <p:nvPr/>
        </p:nvSpPr>
        <p:spPr>
          <a:xfrm>
            <a:off x="3921875" y="723550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5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bc4445f0a_0_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Flusso dei Dati</a:t>
            </a:r>
            <a:endParaRPr/>
          </a:p>
        </p:txBody>
      </p:sp>
      <p:sp>
        <p:nvSpPr>
          <p:cNvPr id="549" name="Google Shape;549;g3abc4445f0a_0_5"/>
          <p:cNvSpPr/>
          <p:nvPr/>
        </p:nvSpPr>
        <p:spPr>
          <a:xfrm>
            <a:off x="1738295" y="1828800"/>
            <a:ext cx="2286000" cy="1097400"/>
          </a:xfrm>
          <a:prstGeom prst="roundRect">
            <a:avLst>
              <a:gd fmla="val 16667" name="adj"/>
            </a:avLst>
          </a:prstGeom>
          <a:solidFill>
            <a:srgbClr val="C8DC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💾 Working Directory</a:t>
            </a:r>
            <a:b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(File fisici)</a:t>
            </a:r>
            <a:endParaRPr/>
          </a:p>
        </p:txBody>
      </p:sp>
      <p:sp>
        <p:nvSpPr>
          <p:cNvPr id="550" name="Google Shape;550;g3abc4445f0a_0_5"/>
          <p:cNvSpPr/>
          <p:nvPr/>
        </p:nvSpPr>
        <p:spPr>
          <a:xfrm>
            <a:off x="4207175" y="2103120"/>
            <a:ext cx="1371600" cy="54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9525">
            <a:solidFill>
              <a:srgbClr val="0064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Importazione</a:t>
            </a:r>
            <a:endParaRPr/>
          </a:p>
        </p:txBody>
      </p:sp>
      <p:sp>
        <p:nvSpPr>
          <p:cNvPr id="551" name="Google Shape;551;g3abc4445f0a_0_5"/>
          <p:cNvSpPr/>
          <p:nvPr/>
        </p:nvSpPr>
        <p:spPr>
          <a:xfrm>
            <a:off x="5761655" y="1828800"/>
            <a:ext cx="2286000" cy="1097400"/>
          </a:xfrm>
          <a:prstGeom prst="roundRect">
            <a:avLst>
              <a:gd fmla="val 16667" name="adj"/>
            </a:avLst>
          </a:prstGeom>
          <a:solidFill>
            <a:srgbClr val="FFDCC8"/>
          </a:solidFill>
          <a:ln cap="flat" cmpd="sng" w="2540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🧠 Workspace</a:t>
            </a:r>
            <a:b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(Memoria RAM)</a:t>
            </a:r>
            <a:endParaRPr/>
          </a:p>
        </p:txBody>
      </p:sp>
      <p:sp>
        <p:nvSpPr>
          <p:cNvPr id="552" name="Google Shape;552;g3abc4445f0a_0_5"/>
          <p:cNvSpPr/>
          <p:nvPr/>
        </p:nvSpPr>
        <p:spPr>
          <a:xfrm>
            <a:off x="4207175" y="3657600"/>
            <a:ext cx="1371600" cy="548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6600"/>
          </a:solidFill>
          <a:ln cap="flat" cmpd="sng" w="9525">
            <a:solidFill>
              <a:srgbClr val="9632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Esportazione</a:t>
            </a:r>
            <a:endParaRPr/>
          </a:p>
        </p:txBody>
      </p:sp>
      <p:sp>
        <p:nvSpPr>
          <p:cNvPr id="553" name="Google Shape;553;g3abc4445f0a_0_5"/>
          <p:cNvSpPr txBox="1"/>
          <p:nvPr/>
        </p:nvSpPr>
        <p:spPr>
          <a:xfrm>
            <a:off x="1738295" y="4389120"/>
            <a:ext cx="6583800" cy="10158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📁 Formati file supportati: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.csv (Comma Separated Values) - testo separato da virgole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.txt (Text) - testo generico con delimitatori personalizzati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.xlsx / .xls (Excel) - fogli di calcolo Microsoft Excel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bc4445f0a_0_14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- read.table()</a:t>
            </a:r>
            <a:endParaRPr/>
          </a:p>
        </p:txBody>
      </p:sp>
      <p:sp>
        <p:nvSpPr>
          <p:cNvPr id="559" name="Google Shape;559;g3abc4445f0a_0_14"/>
          <p:cNvSpPr txBox="1"/>
          <p:nvPr/>
        </p:nvSpPr>
        <p:spPr>
          <a:xfrm>
            <a:off x="640080" y="1097280"/>
            <a:ext cx="7863900" cy="5694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📖 read.table {utils} - R Documentation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Legge un file in formato tabellare e crea un data frame, con i casi corrispondenti alle righe e le variabili ai campi del file.</a:t>
            </a:r>
            <a:endParaRPr/>
          </a:p>
        </p:txBody>
      </p:sp>
      <p:sp>
        <p:nvSpPr>
          <p:cNvPr id="560" name="Google Shape;560;g3abc4445f0a_0_14"/>
          <p:cNvSpPr txBox="1"/>
          <p:nvPr/>
        </p:nvSpPr>
        <p:spPr>
          <a:xfrm>
            <a:off x="640080" y="2011680"/>
            <a:ext cx="7863900" cy="204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read.table(file, header = FALSE, sep = '', quote = '"\''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dec = '.', row.names, col.names,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as.is = !stringsAsFactors,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na.strings = 'NA', colClasses = NA,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nrows = -1, skip = 0,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check.names = TRUE, fill = !blank.lines.skip,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strip.white = FALSE, blank.lines.skip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comment.char = '#', allowEscapes = FALSE,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flush = FALSE,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stringsAsFactors = default.stringsAsFactors(),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fileEncoding = '', encoding = 'unknown')</a:t>
            </a:r>
            <a:endParaRPr/>
          </a:p>
        </p:txBody>
      </p:sp>
      <p:sp>
        <p:nvSpPr>
          <p:cNvPr id="561" name="Google Shape;561;g3abc4445f0a_0_14"/>
          <p:cNvSpPr txBox="1"/>
          <p:nvPr/>
        </p:nvSpPr>
        <p:spPr>
          <a:xfrm>
            <a:off x="640080" y="4754880"/>
            <a:ext cx="7863900" cy="11748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🔧 Varianti specializzate (derivate da read.table):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read.csv()  - per file CSV stile anglosassone (sep=',', dec='.')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read.csv2() - per file CSV stile italiano (sep=';', dec=',')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read.delim() - per file delimitati da tabulazioni stile anglosassone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read.delim2() - per file delimitati da tabulazioni stile italiano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bc4445f0a_0_2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- read.csv() e read.csv2()</a:t>
            </a:r>
            <a:endParaRPr/>
          </a:p>
        </p:txBody>
      </p:sp>
      <p:sp>
        <p:nvSpPr>
          <p:cNvPr id="567" name="Google Shape;567;g3abc4445f0a_0_21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Funzioni specializzate per file CSV (Comma Separated Values):</a:t>
            </a:r>
            <a:endParaRPr/>
          </a:p>
        </p:txBody>
      </p:sp>
      <p:sp>
        <p:nvSpPr>
          <p:cNvPr id="568" name="Google Shape;568;g3abc4445f0a_0_21"/>
          <p:cNvSpPr txBox="1"/>
          <p:nvPr/>
        </p:nvSpPr>
        <p:spPr>
          <a:xfrm>
            <a:off x="640080" y="1691640"/>
            <a:ext cx="7863900" cy="307800"/>
          </a:xfrm>
          <a:prstGeom prst="rect">
            <a:avLst/>
          </a:prstGeom>
          <a:solidFill>
            <a:srgbClr val="E6F5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🌍 read.csv() - Stile ANGLOSASSONE (UK, USA, Australia)</a:t>
            </a:r>
            <a:endParaRPr/>
          </a:p>
        </p:txBody>
      </p:sp>
      <p:sp>
        <p:nvSpPr>
          <p:cNvPr id="569" name="Google Shape;569;g3abc4445f0a_0_21"/>
          <p:cNvSpPr txBox="1"/>
          <p:nvPr/>
        </p:nvSpPr>
        <p:spPr>
          <a:xfrm>
            <a:off x="914400" y="2834640"/>
            <a:ext cx="6675000" cy="425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read.csv(file, header = TRUE, sep = ",", quote = '"',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dec = ".", fill = TRUE, comment.char = "", ...)</a:t>
            </a:r>
            <a:endParaRPr/>
          </a:p>
        </p:txBody>
      </p:sp>
      <p:sp>
        <p:nvSpPr>
          <p:cNvPr id="570" name="Google Shape;570;g3abc4445f0a_0_21"/>
          <p:cNvSpPr txBox="1"/>
          <p:nvPr/>
        </p:nvSpPr>
        <p:spPr>
          <a:xfrm>
            <a:off x="914400" y="3474720"/>
            <a:ext cx="667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Separatore campi: virgola (,)  |  • Separatore decimale: punto (.)</a:t>
            </a:r>
            <a:endParaRPr/>
          </a:p>
        </p:txBody>
      </p:sp>
      <p:sp>
        <p:nvSpPr>
          <p:cNvPr id="571" name="Google Shape;571;g3abc4445f0a_0_21"/>
          <p:cNvSpPr txBox="1"/>
          <p:nvPr/>
        </p:nvSpPr>
        <p:spPr>
          <a:xfrm>
            <a:off x="640080" y="4206240"/>
            <a:ext cx="7863900" cy="307800"/>
          </a:xfrm>
          <a:prstGeom prst="rect">
            <a:avLst/>
          </a:prstGeom>
          <a:solidFill>
            <a:srgbClr val="FFF5E6"/>
          </a:solidFill>
          <a:ln cap="flat" cmpd="sng" w="2540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🇮🇹 read.csv2() - Stile ITALIANO (Europa continentale)</a:t>
            </a:r>
            <a:endParaRPr/>
          </a:p>
        </p:txBody>
      </p:sp>
      <p:sp>
        <p:nvSpPr>
          <p:cNvPr id="572" name="Google Shape;572;g3abc4445f0a_0_21"/>
          <p:cNvSpPr txBox="1"/>
          <p:nvPr/>
        </p:nvSpPr>
        <p:spPr>
          <a:xfrm>
            <a:off x="914400" y="5349240"/>
            <a:ext cx="6675000" cy="425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read.csv2(file, header = TRUE, sep = ";", quote = '"',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dec = ",", fill = TRUE, comment.char = "", ...)</a:t>
            </a:r>
            <a:endParaRPr/>
          </a:p>
        </p:txBody>
      </p:sp>
      <p:sp>
        <p:nvSpPr>
          <p:cNvPr id="573" name="Google Shape;573;g3abc4445f0a_0_21"/>
          <p:cNvSpPr txBox="1"/>
          <p:nvPr/>
        </p:nvSpPr>
        <p:spPr>
          <a:xfrm>
            <a:off x="914400" y="5989320"/>
            <a:ext cx="667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Separatore campi: punto e virgola (;)  |  • Separatore decimale: virgola (,)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bc4445f0a_0_32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- read.delim() e read.delim2()</a:t>
            </a:r>
            <a:endParaRPr/>
          </a:p>
        </p:txBody>
      </p:sp>
      <p:sp>
        <p:nvSpPr>
          <p:cNvPr id="579" name="Google Shape;579;g3abc4445f0a_0_32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Funzioni per file delimitati da TABULAZIONI (\t):</a:t>
            </a:r>
            <a:endParaRPr/>
          </a:p>
        </p:txBody>
      </p:sp>
      <p:sp>
        <p:nvSpPr>
          <p:cNvPr id="580" name="Google Shape;580;g3abc4445f0a_0_32"/>
          <p:cNvSpPr txBox="1"/>
          <p:nvPr/>
        </p:nvSpPr>
        <p:spPr>
          <a:xfrm>
            <a:off x="640080" y="1691640"/>
            <a:ext cx="7863900" cy="307800"/>
          </a:xfrm>
          <a:prstGeom prst="rect">
            <a:avLst/>
          </a:prstGeom>
          <a:solidFill>
            <a:srgbClr val="E6F5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🌍 read.delim() - Stile ANGLOSASSONE</a:t>
            </a:r>
            <a:endParaRPr/>
          </a:p>
        </p:txBody>
      </p:sp>
      <p:sp>
        <p:nvSpPr>
          <p:cNvPr id="581" name="Google Shape;581;g3abc4445f0a_0_32"/>
          <p:cNvSpPr txBox="1"/>
          <p:nvPr/>
        </p:nvSpPr>
        <p:spPr>
          <a:xfrm>
            <a:off x="914400" y="2834640"/>
            <a:ext cx="6675000" cy="425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read.delim(file, header = TRUE, sep = "\t", quote = '"',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dec = ".", fill = TRUE, comment.char = "", ...)</a:t>
            </a:r>
            <a:endParaRPr/>
          </a:p>
        </p:txBody>
      </p:sp>
      <p:sp>
        <p:nvSpPr>
          <p:cNvPr id="582" name="Google Shape;582;g3abc4445f0a_0_32"/>
          <p:cNvSpPr txBox="1"/>
          <p:nvPr/>
        </p:nvSpPr>
        <p:spPr>
          <a:xfrm>
            <a:off x="640080" y="3749039"/>
            <a:ext cx="7863900" cy="307800"/>
          </a:xfrm>
          <a:prstGeom prst="rect">
            <a:avLst/>
          </a:prstGeom>
          <a:solidFill>
            <a:srgbClr val="FFF5E6"/>
          </a:solidFill>
          <a:ln cap="flat" cmpd="sng" w="2540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🇮🇹 read.delim2() - Stile ITALIANO</a:t>
            </a:r>
            <a:endParaRPr/>
          </a:p>
        </p:txBody>
      </p:sp>
      <p:sp>
        <p:nvSpPr>
          <p:cNvPr id="583" name="Google Shape;583;g3abc4445f0a_0_32"/>
          <p:cNvSpPr txBox="1"/>
          <p:nvPr/>
        </p:nvSpPr>
        <p:spPr>
          <a:xfrm>
            <a:off x="914400" y="4892040"/>
            <a:ext cx="6675000" cy="425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read.delim2(file, header = TRUE, sep = "\t", quote = '"',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dec = ",", fill = TRUE, comment.char = "", ...)</a:t>
            </a:r>
            <a:endParaRPr/>
          </a:p>
        </p:txBody>
      </p:sp>
      <p:sp>
        <p:nvSpPr>
          <p:cNvPr id="584" name="Google Shape;584;g3abc4445f0a_0_32"/>
          <p:cNvSpPr txBox="1"/>
          <p:nvPr/>
        </p:nvSpPr>
        <p:spPr>
          <a:xfrm>
            <a:off x="640080" y="5669280"/>
            <a:ext cx="7863900" cy="2769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⌨️ Tabulazione (\t): tasto Tab sulla tastiera (due frecce che si scontrano), generalmente in alto a sinistra vicino al Maiuscolo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bc4445f0a_0_42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da Excel</a:t>
            </a:r>
            <a:endParaRPr/>
          </a:p>
        </p:txBody>
      </p:sp>
      <p:sp>
        <p:nvSpPr>
          <p:cNvPr id="590" name="Google Shape;590;g3abc4445f0a_0_42"/>
          <p:cNvSpPr txBox="1"/>
          <p:nvPr/>
        </p:nvSpPr>
        <p:spPr>
          <a:xfrm>
            <a:off x="1828800" y="1188720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 possibile leggere dati direttamente da Excel?</a:t>
            </a:r>
            <a:endParaRPr/>
          </a:p>
        </p:txBody>
      </p:sp>
      <p:sp>
        <p:nvSpPr>
          <p:cNvPr id="591" name="Google Shape;591;g3abc4445f0a_0_42"/>
          <p:cNvSpPr txBox="1"/>
          <p:nvPr/>
        </p:nvSpPr>
        <p:spPr>
          <a:xfrm>
            <a:off x="2743200" y="173736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Certo!!!</a:t>
            </a:r>
            <a:endParaRPr/>
          </a:p>
        </p:txBody>
      </p:sp>
      <p:sp>
        <p:nvSpPr>
          <p:cNvPr id="592" name="Google Shape;592;g3abc4445f0a_0_42"/>
          <p:cNvSpPr txBox="1"/>
          <p:nvPr/>
        </p:nvSpPr>
        <p:spPr>
          <a:xfrm>
            <a:off x="640080" y="2377440"/>
            <a:ext cx="7863900" cy="1862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read.xlsx(file, sheetIndex, sheetName = NULL,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rowIndex = NULL, startRow = NULL, endRow = NULL,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colIndex = NULL, as.data.frame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header = TRUE, colClasses = NA,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keepFormulas = FALSE, encoding = "unknown", ...)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read.xlsx2(file, sheetIndex, sheetName = NULL,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startRow = 1, colIndex = NULL, endRow = NULL,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as.data.frame = TRUE, header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colClasses = "character", ...)</a:t>
            </a:r>
            <a:endParaRPr/>
          </a:p>
        </p:txBody>
      </p:sp>
      <p:sp>
        <p:nvSpPr>
          <p:cNvPr id="593" name="Google Shape;593;g3abc4445f0a_0_42"/>
          <p:cNvSpPr txBox="1"/>
          <p:nvPr/>
        </p:nvSpPr>
        <p:spPr>
          <a:xfrm>
            <a:off x="640080" y="4846320"/>
            <a:ext cx="7863900" cy="9543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💻 Differenze tra Sistemi Operativi: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🪟 Windows/Microsoft: utilizza generalmente lo stile ITALIANO (virgola per decimali)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🍎 macOS/Apple: utilizza lo stile ANGLOSASSONE (punto per decimali)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🐧 Linux: dipende dalle impostazioni locali (locale), di solito segue lo standard del paese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bc4445f0a_0_50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Excel - Installazione Pacchetto</a:t>
            </a:r>
            <a:endParaRPr/>
          </a:p>
        </p:txBody>
      </p:sp>
      <p:sp>
        <p:nvSpPr>
          <p:cNvPr id="599" name="Google Shape;599;g3abc4445f0a_0_50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 Installazione e utilizzo del pacchetto xlsx:</a:t>
            </a:r>
            <a:endParaRPr/>
          </a:p>
        </p:txBody>
      </p:sp>
      <p:sp>
        <p:nvSpPr>
          <p:cNvPr id="600" name="Google Shape;600;g3abc4445f0a_0_50"/>
          <p:cNvSpPr txBox="1"/>
          <p:nvPr/>
        </p:nvSpPr>
        <p:spPr>
          <a:xfrm>
            <a:off x="640080" y="1600200"/>
            <a:ext cx="7863900" cy="168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1. Installare il pacchetto (UNA VOLTA SOLA)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install.packages("xlsx")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2. Caricare la libreria (OGNI SESSIONE)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library(xlsx)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3. Importare il file Excel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dati &lt;- read.xlsx2("dati.xlsx", 1)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 = prima scheda (sheet)</a:t>
            </a:r>
            <a:endParaRPr/>
          </a:p>
        </p:txBody>
      </p:sp>
      <p:sp>
        <p:nvSpPr>
          <p:cNvPr id="601" name="Google Shape;601;g3abc4445f0a_0_50"/>
          <p:cNvSpPr txBox="1"/>
          <p:nvPr/>
        </p:nvSpPr>
        <p:spPr>
          <a:xfrm>
            <a:off x="640080" y="4297680"/>
            <a:ext cx="7863900" cy="15393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IMPORTANTE - Limitazioni Excel: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 libreria xlsx è scritta in Java → lenta e poco efficiente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Il tempo di importazione è MOLTO superiore rispetto a CSV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File Excel contengono formule, formattazioni → problemi di lettura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RACCOMANDAZIONE: preferire sempre file .csv o .txt quando possibile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 file CSV sono più snelli, veloci e affidabili per l'analisi dati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bc4445f0a_0_57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Importazione - Parametri Principali</a:t>
            </a:r>
            <a:endParaRPr/>
          </a:p>
        </p:txBody>
      </p:sp>
      <p:sp>
        <p:nvSpPr>
          <p:cNvPr id="607" name="Google Shape;607;g3abc4445f0a_0_57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 Parametri fondamentali per l'importazione:</a:t>
            </a:r>
            <a:endParaRPr/>
          </a:p>
        </p:txBody>
      </p:sp>
      <p:sp>
        <p:nvSpPr>
          <p:cNvPr id="608" name="Google Shape;608;g3abc4445f0a_0_57"/>
          <p:cNvSpPr txBox="1"/>
          <p:nvPr/>
        </p:nvSpPr>
        <p:spPr>
          <a:xfrm>
            <a:off x="640080" y="164592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endParaRPr/>
          </a:p>
        </p:txBody>
      </p:sp>
      <p:sp>
        <p:nvSpPr>
          <p:cNvPr id="609" name="Google Shape;609;g3abc4445f0a_0_57"/>
          <p:cNvSpPr txBox="1"/>
          <p:nvPr/>
        </p:nvSpPr>
        <p:spPr>
          <a:xfrm>
            <a:off x="2377440" y="164592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del file da importare (percorso completo o relativo alla working directory)</a:t>
            </a:r>
            <a:endParaRPr/>
          </a:p>
        </p:txBody>
      </p:sp>
      <p:sp>
        <p:nvSpPr>
          <p:cNvPr id="610" name="Google Shape;610;g3abc4445f0a_0_57"/>
          <p:cNvSpPr txBox="1"/>
          <p:nvPr/>
        </p:nvSpPr>
        <p:spPr>
          <a:xfrm>
            <a:off x="640080" y="214884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endParaRPr/>
          </a:p>
        </p:txBody>
      </p:sp>
      <p:sp>
        <p:nvSpPr>
          <p:cNvPr id="611" name="Google Shape;611;g3abc4445f0a_0_57"/>
          <p:cNvSpPr txBox="1"/>
          <p:nvPr/>
        </p:nvSpPr>
        <p:spPr>
          <a:xfrm>
            <a:off x="2377440" y="214884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se la prima riga contiene i nomi delle colonne, FALSE altrimenti</a:t>
            </a:r>
            <a:endParaRPr/>
          </a:p>
        </p:txBody>
      </p:sp>
      <p:sp>
        <p:nvSpPr>
          <p:cNvPr id="612" name="Google Shape;612;g3abc4445f0a_0_57"/>
          <p:cNvSpPr txBox="1"/>
          <p:nvPr/>
        </p:nvSpPr>
        <p:spPr>
          <a:xfrm>
            <a:off x="640080" y="265176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sep</a:t>
            </a:r>
            <a:endParaRPr/>
          </a:p>
        </p:txBody>
      </p:sp>
      <p:sp>
        <p:nvSpPr>
          <p:cNvPr id="613" name="Google Shape;613;g3abc4445f0a_0_57"/>
          <p:cNvSpPr txBox="1"/>
          <p:nvPr/>
        </p:nvSpPr>
        <p:spPr>
          <a:xfrm>
            <a:off x="2377440" y="265176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Carattere che separa i campi/colonne (es: ',' ';' '\t')</a:t>
            </a:r>
            <a:endParaRPr/>
          </a:p>
        </p:txBody>
      </p:sp>
      <p:sp>
        <p:nvSpPr>
          <p:cNvPr id="614" name="Google Shape;614;g3abc4445f0a_0_57"/>
          <p:cNvSpPr txBox="1"/>
          <p:nvPr/>
        </p:nvSpPr>
        <p:spPr>
          <a:xfrm>
            <a:off x="640080" y="315468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dec</a:t>
            </a:r>
            <a:endParaRPr/>
          </a:p>
        </p:txBody>
      </p:sp>
      <p:sp>
        <p:nvSpPr>
          <p:cNvPr id="615" name="Google Shape;615;g3abc4445f0a_0_57"/>
          <p:cNvSpPr txBox="1"/>
          <p:nvPr/>
        </p:nvSpPr>
        <p:spPr>
          <a:xfrm>
            <a:off x="2377440" y="315468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Carattere usato come separatore decimale ('.' o ',')</a:t>
            </a:r>
            <a:endParaRPr/>
          </a:p>
        </p:txBody>
      </p:sp>
      <p:sp>
        <p:nvSpPr>
          <p:cNvPr id="616" name="Google Shape;616;g3abc4445f0a_0_57"/>
          <p:cNvSpPr txBox="1"/>
          <p:nvPr/>
        </p:nvSpPr>
        <p:spPr>
          <a:xfrm>
            <a:off x="640080" y="365760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row.names</a:t>
            </a:r>
            <a:endParaRPr/>
          </a:p>
        </p:txBody>
      </p:sp>
      <p:sp>
        <p:nvSpPr>
          <p:cNvPr id="617" name="Google Shape;617;g3abc4445f0a_0_57"/>
          <p:cNvSpPr txBox="1"/>
          <p:nvPr/>
        </p:nvSpPr>
        <p:spPr>
          <a:xfrm>
            <a:off x="2377440" y="365760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Vettore con i nomi delle righe (opzionale)</a:t>
            </a:r>
            <a:endParaRPr/>
          </a:p>
        </p:txBody>
      </p:sp>
      <p:sp>
        <p:nvSpPr>
          <p:cNvPr id="618" name="Google Shape;618;g3abc4445f0a_0_57"/>
          <p:cNvSpPr txBox="1"/>
          <p:nvPr/>
        </p:nvSpPr>
        <p:spPr>
          <a:xfrm>
            <a:off x="640080" y="416052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col.names</a:t>
            </a:r>
            <a:endParaRPr/>
          </a:p>
        </p:txBody>
      </p:sp>
      <p:sp>
        <p:nvSpPr>
          <p:cNvPr id="619" name="Google Shape;619;g3abc4445f0a_0_57"/>
          <p:cNvSpPr txBox="1"/>
          <p:nvPr/>
        </p:nvSpPr>
        <p:spPr>
          <a:xfrm>
            <a:off x="2377440" y="416052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Vettore con i nomi delle colonne (se header = FALSE)</a:t>
            </a:r>
            <a:endParaRPr/>
          </a:p>
        </p:txBody>
      </p:sp>
      <p:sp>
        <p:nvSpPr>
          <p:cNvPr id="620" name="Google Shape;620;g3abc4445f0a_0_57"/>
          <p:cNvSpPr txBox="1"/>
          <p:nvPr/>
        </p:nvSpPr>
        <p:spPr>
          <a:xfrm>
            <a:off x="640080" y="466344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na.strings</a:t>
            </a:r>
            <a:endParaRPr/>
          </a:p>
        </p:txBody>
      </p:sp>
      <p:sp>
        <p:nvSpPr>
          <p:cNvPr id="621" name="Google Shape;621;g3abc4445f0a_0_57"/>
          <p:cNvSpPr txBox="1"/>
          <p:nvPr/>
        </p:nvSpPr>
        <p:spPr>
          <a:xfrm>
            <a:off x="2377440" y="466344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Stringa che identifica i valori mancanti (default: 'NA')</a:t>
            </a:r>
            <a:endParaRPr/>
          </a:p>
        </p:txBody>
      </p:sp>
      <p:sp>
        <p:nvSpPr>
          <p:cNvPr id="622" name="Google Shape;622;g3abc4445f0a_0_57"/>
          <p:cNvSpPr txBox="1"/>
          <p:nvPr/>
        </p:nvSpPr>
        <p:spPr>
          <a:xfrm>
            <a:off x="640080" y="5166359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skip</a:t>
            </a:r>
            <a:endParaRPr/>
          </a:p>
        </p:txBody>
      </p:sp>
      <p:sp>
        <p:nvSpPr>
          <p:cNvPr id="623" name="Google Shape;623;g3abc4445f0a_0_57"/>
          <p:cNvSpPr txBox="1"/>
          <p:nvPr/>
        </p:nvSpPr>
        <p:spPr>
          <a:xfrm>
            <a:off x="2377440" y="5166359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 di righe da saltare all'inizio del file</a:t>
            </a:r>
            <a:endParaRPr/>
          </a:p>
        </p:txBody>
      </p:sp>
      <p:sp>
        <p:nvSpPr>
          <p:cNvPr id="624" name="Google Shape;624;g3abc4445f0a_0_57"/>
          <p:cNvSpPr txBox="1"/>
          <p:nvPr/>
        </p:nvSpPr>
        <p:spPr>
          <a:xfrm>
            <a:off x="640080" y="5669279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nrows</a:t>
            </a:r>
            <a:endParaRPr/>
          </a:p>
        </p:txBody>
      </p:sp>
      <p:sp>
        <p:nvSpPr>
          <p:cNvPr id="625" name="Google Shape;625;g3abc4445f0a_0_57"/>
          <p:cNvSpPr txBox="1"/>
          <p:nvPr/>
        </p:nvSpPr>
        <p:spPr>
          <a:xfrm>
            <a:off x="2377440" y="5669279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 massimo di righe da leggere (-1 = tutte)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bc4445f0a_0_80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Esportazione Dati</a:t>
            </a:r>
            <a:endParaRPr/>
          </a:p>
        </p:txBody>
      </p:sp>
      <p:sp>
        <p:nvSpPr>
          <p:cNvPr id="631" name="Google Shape;631;g3abc4445f0a_0_80"/>
          <p:cNvSpPr txBox="1"/>
          <p:nvPr/>
        </p:nvSpPr>
        <p:spPr>
          <a:xfrm>
            <a:off x="640080" y="1097280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Esistono diverse funzioni per esportare dati tabulari. La scelta dipende dal formato desiderato. Le tre funzioni più comuni sono:</a:t>
            </a:r>
            <a:endParaRPr/>
          </a:p>
        </p:txBody>
      </p:sp>
      <p:sp>
        <p:nvSpPr>
          <p:cNvPr id="632" name="Google Shape;632;g3abc4445f0a_0_80"/>
          <p:cNvSpPr txBox="1"/>
          <p:nvPr/>
        </p:nvSpPr>
        <p:spPr>
          <a:xfrm>
            <a:off x="640080" y="1874519"/>
            <a:ext cx="78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write.table()  |  write.csv()  |  write.csv2()</a:t>
            </a:r>
            <a:endParaRPr/>
          </a:p>
        </p:txBody>
      </p:sp>
      <p:sp>
        <p:nvSpPr>
          <p:cNvPr id="633" name="Google Shape;633;g3abc4445f0a_0_80"/>
          <p:cNvSpPr txBox="1"/>
          <p:nvPr/>
        </p:nvSpPr>
        <p:spPr>
          <a:xfrm>
            <a:off x="640080" y="2560320"/>
            <a:ext cx="7863900" cy="168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write.table(x, file = "", append = FALSE, quote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sep = " ", eol = "\n", na = "NA", dec = ".",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row.names = TRUE, col.names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qmethod = c("escape", "double"),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fileEncoding = "")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write.csv(...)    # Derivata da write.table per CSV anglosassone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write.csv2(...)   # Derivata da write.table per CSV italiano</a:t>
            </a:r>
            <a:endParaRPr/>
          </a:p>
        </p:txBody>
      </p:sp>
      <p:sp>
        <p:nvSpPr>
          <p:cNvPr id="634" name="Google Shape;634;g3abc4445f0a_0_80"/>
          <p:cNvSpPr txBox="1"/>
          <p:nvPr/>
        </p:nvSpPr>
        <p:spPr>
          <a:xfrm>
            <a:off x="640080" y="5029200"/>
            <a:ext cx="7863900" cy="11748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Note importanti: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Molti parametri sono gli stessi usati nelle funzioni di importazione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x è l'oggetto (data frame) da esportare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file è il nome del file di destinazione (con percorso)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 funzioni write.csv e write.csv2 seguono le stesse convenzioni delle corrispondenti read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abc4445f0a_0_8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Esportazione - File Excel</a:t>
            </a:r>
            <a:endParaRPr/>
          </a:p>
        </p:txBody>
      </p:sp>
      <p:sp>
        <p:nvSpPr>
          <p:cNvPr id="640" name="Google Shape;640;g3abc4445f0a_0_88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Naturalmente è possibile esportare file anche in formato Excel:</a:t>
            </a:r>
            <a:endParaRPr/>
          </a:p>
        </p:txBody>
      </p:sp>
      <p:sp>
        <p:nvSpPr>
          <p:cNvPr id="641" name="Google Shape;641;g3abc4445f0a_0_88"/>
          <p:cNvSpPr txBox="1"/>
          <p:nvPr/>
        </p:nvSpPr>
        <p:spPr>
          <a:xfrm>
            <a:off x="640080" y="1691640"/>
            <a:ext cx="7863900" cy="1323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write.xlsx(x, file, sheetName = "Sheet1",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col.names = TRUE, row.names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append = FALSE, showNA = TRUE)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write.xlsx2(x, file, sheetName = "Sheet1",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col.names = TRUE, row.names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append = FALSE, ...)</a:t>
            </a:r>
            <a:endParaRPr/>
          </a:p>
        </p:txBody>
      </p:sp>
      <p:sp>
        <p:nvSpPr>
          <p:cNvPr id="642" name="Google Shape;642;g3abc4445f0a_0_88"/>
          <p:cNvSpPr txBox="1"/>
          <p:nvPr/>
        </p:nvSpPr>
        <p:spPr>
          <a:xfrm>
            <a:off x="640080" y="3840480"/>
            <a:ext cx="7863900" cy="4617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📝 sheetName: Non è necessario passare il nome della scheda perché viene definito automaticamente come 'Sheet1', ma è possibile modificarlo con il parametro sheetName</a:t>
            </a:r>
            <a:endParaRPr/>
          </a:p>
        </p:txBody>
      </p:sp>
      <p:sp>
        <p:nvSpPr>
          <p:cNvPr id="643" name="Google Shape;643;g3abc4445f0a_0_88"/>
          <p:cNvSpPr txBox="1"/>
          <p:nvPr/>
        </p:nvSpPr>
        <p:spPr>
          <a:xfrm>
            <a:off x="640080" y="4754880"/>
            <a:ext cx="7863900" cy="12930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Il problema rimane quello dell'EFFICIENZA: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Esportare in Excel è LENTO (libreria Java)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File Excel più pesanti e complessi da gestire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RACCOMANDAZIONE: usare write.csv() o write.csv2() per velocità e affidabilità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Riservare Excel solo quando strettamente necessario per compatibilità con altri software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bc4445f0a_0_191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5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bc4445f0a_0_195"/>
          <p:cNvSpPr txBox="1"/>
          <p:nvPr/>
        </p:nvSpPr>
        <p:spPr>
          <a:xfrm>
            <a:off x="457200" y="228600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Statistiche di Base</a:t>
            </a:r>
            <a:endParaRPr/>
          </a:p>
        </p:txBody>
      </p:sp>
      <p:sp>
        <p:nvSpPr>
          <p:cNvPr id="654" name="Google Shape;654;g3abc4445f0a_0_195"/>
          <p:cNvSpPr txBox="1"/>
          <p:nvPr/>
        </p:nvSpPr>
        <p:spPr>
          <a:xfrm>
            <a:off x="1828800" y="3017520"/>
            <a:ext cx="5486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Funzioni elementari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📈 Media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📉 Indici di variabilità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🔗 Correlazione</a:t>
            </a:r>
            <a:endParaRPr/>
          </a:p>
        </p:txBody>
      </p:sp>
      <p:sp>
        <p:nvSpPr>
          <p:cNvPr id="655" name="Google Shape;655;g3abc4445f0a_0_195"/>
          <p:cNvSpPr txBox="1"/>
          <p:nvPr/>
        </p:nvSpPr>
        <p:spPr>
          <a:xfrm>
            <a:off x="3921875" y="723550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6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bc4445f0a_0_200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Funzioni Elementari</a:t>
            </a:r>
            <a:endParaRPr/>
          </a:p>
        </p:txBody>
      </p:sp>
      <p:sp>
        <p:nvSpPr>
          <p:cNvPr id="661" name="Google Shape;661;g3abc4445f0a_0_200"/>
          <p:cNvSpPr txBox="1"/>
          <p:nvPr/>
        </p:nvSpPr>
        <p:spPr>
          <a:xfrm>
            <a:off x="640080" y="1097280"/>
            <a:ext cx="786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Operazioni matematiche di base su vettori:</a:t>
            </a:r>
            <a:endParaRPr/>
          </a:p>
        </p:txBody>
      </p:sp>
      <p:sp>
        <p:nvSpPr>
          <p:cNvPr id="662" name="Google Shape;662;g3abc4445f0a_0_200"/>
          <p:cNvSpPr txBox="1"/>
          <p:nvPr/>
        </p:nvSpPr>
        <p:spPr>
          <a:xfrm>
            <a:off x="640080" y="1691640"/>
            <a:ext cx="7863900" cy="4002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c(3, 4, 6, 7, 12, 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sum(x)          # Somma di tutti gli elementi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36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prod(x)         # Prodotto di tutti gli elementi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24192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cumsum(x)       # Somma cumulata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 3  7 13 20 32 36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cumprod(x)      # Prodotto cumulato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    3    12    72   504  6048 24192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min(x)          # Valore minimo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max(x)          # Valore massimo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12</a:t>
            </a:r>
            <a:endParaRPr/>
          </a:p>
        </p:txBody>
      </p:sp>
      <p:sp>
        <p:nvSpPr>
          <p:cNvPr id="663" name="Google Shape;663;g3abc4445f0a_0_200"/>
          <p:cNvSpPr txBox="1"/>
          <p:nvPr/>
        </p:nvSpPr>
        <p:spPr>
          <a:xfrm>
            <a:off x="640080" y="6035040"/>
            <a:ext cx="7863900" cy="4617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cumsum() e cumprod(): restituiscono vettori della stessa lunghezza dell'input, con valori cumulativi. Utili per analisi temporali e calcoli progressivi.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bc4445f0a_0_207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Media - mean()</a:t>
            </a:r>
            <a:endParaRPr/>
          </a:p>
        </p:txBody>
      </p:sp>
      <p:sp>
        <p:nvSpPr>
          <p:cNvPr id="669" name="Google Shape;669;g3abc4445f0a_0_207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mean(x, trim = 0, na.rm = FALSE, ...)</a:t>
            </a:r>
            <a:endParaRPr/>
          </a:p>
        </p:txBody>
      </p:sp>
      <p:sp>
        <p:nvSpPr>
          <p:cNvPr id="670" name="Google Shape;670;g3abc4445f0a_0_207"/>
          <p:cNvSpPr txBox="1"/>
          <p:nvPr/>
        </p:nvSpPr>
        <p:spPr>
          <a:xfrm>
            <a:off x="640080" y="1828800"/>
            <a:ext cx="7863900" cy="2963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 &lt;- c(4, 6, 7, 12, 5, 7, 3, 2, 9, 88, NA)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mean(a)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La presenza di NA rende il risultato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mean(a, na.rm = TRUE)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14.3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na.rm = TRUE rimuove i valori mancanti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mean(a, na.rm = TRUE, trim = 0.1)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6.625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trim = 0.1 rimuove il 10% dei valori estremi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(5% più bassi + 5% più alti)</a:t>
            </a:r>
            <a:endParaRPr/>
          </a:p>
        </p:txBody>
      </p:sp>
      <p:sp>
        <p:nvSpPr>
          <p:cNvPr id="671" name="Google Shape;671;g3abc4445f0a_0_207"/>
          <p:cNvSpPr txBox="1"/>
          <p:nvPr/>
        </p:nvSpPr>
        <p:spPr>
          <a:xfrm>
            <a:off x="640080" y="5212080"/>
            <a:ext cx="7863900" cy="9927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 Parametri importanti: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na.rm = TRUE: rimuove i valori NA prima del calcolo (altrimenti risultato = NA)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trim: frazione (0-0.5) di osservazioni da rimuovere agli estremi. 0.1 = rimuove 10% outliers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Media troncata (trimmed mean) utile per dati con valori estremi o outlier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abc4445f0a_0_214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Indici di Variabilità - var() e sd()</a:t>
            </a:r>
            <a:endParaRPr/>
          </a:p>
        </p:txBody>
      </p:sp>
      <p:sp>
        <p:nvSpPr>
          <p:cNvPr id="677" name="Google Shape;677;g3abc4445f0a_0_214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var(x, na.rm = FALSE)     sd(x, na.rm = FALSE)</a:t>
            </a:r>
            <a:endParaRPr/>
          </a:p>
        </p:txBody>
      </p:sp>
      <p:sp>
        <p:nvSpPr>
          <p:cNvPr id="678" name="Google Shape;678;g3abc4445f0a_0_214"/>
          <p:cNvSpPr txBox="1"/>
          <p:nvPr/>
        </p:nvSpPr>
        <p:spPr>
          <a:xfrm>
            <a:off x="640080" y="1691640"/>
            <a:ext cx="7863900" cy="2755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 &lt;- c(4, 6, 7, 12, 5, 7, 3, 2, 9, 88, NA)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var(a)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var(a, na.rm = TRUE)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679.1222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sd(a)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NA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sd(a, na.rm = TRUE)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26.05997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bc4445f0a_0_22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Correlazione - cor()</a:t>
            </a:r>
            <a:endParaRPr/>
          </a:p>
        </p:txBody>
      </p:sp>
      <p:sp>
        <p:nvSpPr>
          <p:cNvPr id="684" name="Google Shape;684;g3abc4445f0a_0_221"/>
          <p:cNvSpPr txBox="1"/>
          <p:nvPr/>
        </p:nvSpPr>
        <p:spPr>
          <a:xfrm>
            <a:off x="640080" y="1097280"/>
            <a:ext cx="7863900" cy="5310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cor(x, y = NULL, use = "everything",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    method = c("pearson", "kendall", "spearman"))</a:t>
            </a:r>
            <a:endParaRPr/>
          </a:p>
        </p:txBody>
      </p:sp>
      <p:sp>
        <p:nvSpPr>
          <p:cNvPr id="685" name="Google Shape;685;g3abc4445f0a_0_221"/>
          <p:cNvSpPr txBox="1"/>
          <p:nvPr/>
        </p:nvSpPr>
        <p:spPr>
          <a:xfrm>
            <a:off x="640055" y="2293890"/>
            <a:ext cx="3657600" cy="1716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c(3, 4, 6, 7, 12, 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c(43, 65, 72, 54, 6, 89)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cor(x, y)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-0.7382895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Correlazione negativa forte: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quando x aumenta, y tende a diminuire</a:t>
            </a:r>
            <a:endParaRPr/>
          </a:p>
        </p:txBody>
      </p:sp>
      <p:sp>
        <p:nvSpPr>
          <p:cNvPr id="686" name="Google Shape;686;g3abc4445f0a_0_221"/>
          <p:cNvSpPr txBox="1"/>
          <p:nvPr/>
        </p:nvSpPr>
        <p:spPr>
          <a:xfrm>
            <a:off x="4572000" y="1920240"/>
            <a:ext cx="3931800" cy="25089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Metodi di correlazione: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pearson (default):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Correlazione lineare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normalità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kendall: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Correlazione di rango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parametrico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spearman: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Correlazione di rango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Basato su ranghi</a:t>
            </a:r>
            <a:endParaRPr/>
          </a:p>
        </p:txBody>
      </p:sp>
      <p:sp>
        <p:nvSpPr>
          <p:cNvPr id="687" name="Google Shape;687;g3abc4445f0a_0_221"/>
          <p:cNvSpPr txBox="1"/>
          <p:nvPr/>
        </p:nvSpPr>
        <p:spPr>
          <a:xfrm>
            <a:off x="640055" y="4675820"/>
            <a:ext cx="7863900" cy="14598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📈 Interpretazione coefficiente di correlazione (r):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Varia tra -1 e +1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 = +1: correlazione positiva perfetta (x↑ → y↑)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 = -1: correlazione negativa perfetta (x↑ → y↓)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 = 0: nessuna correlazione lineare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|r| &gt; 0.7: correlazione forte  |  0.3 &lt; |r| &lt; 0.7: moderata  |  |r| &lt; 0.3: debole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bc4445f0a_0_22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Concetti Fondamentali - Quantili e Tabelle</a:t>
            </a:r>
            <a:endParaRPr/>
          </a:p>
        </p:txBody>
      </p:sp>
      <p:sp>
        <p:nvSpPr>
          <p:cNvPr id="693" name="Google Shape;693;g3abc4445f0a_0_229"/>
          <p:cNvSpPr txBox="1"/>
          <p:nvPr/>
        </p:nvSpPr>
        <p:spPr>
          <a:xfrm>
            <a:off x="640080" y="1097280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QUANTILI</a:t>
            </a:r>
            <a:endParaRPr/>
          </a:p>
        </p:txBody>
      </p:sp>
      <p:sp>
        <p:nvSpPr>
          <p:cNvPr id="694" name="Google Shape;694;g3abc4445f0a_0_229"/>
          <p:cNvSpPr txBox="1"/>
          <p:nvPr/>
        </p:nvSpPr>
        <p:spPr>
          <a:xfrm>
            <a:off x="640080" y="1508760"/>
            <a:ext cx="3657600" cy="2488500"/>
          </a:xfrm>
          <a:prstGeom prst="rect">
            <a:avLst/>
          </a:prstGeom>
          <a:solidFill>
            <a:srgbClr val="E6F5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Valori che dividono i dati ordinati in parti uguali: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Quartili (4 parti):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Q1 = 25%, Q2 = 50% (mediana),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Q3 = 75%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Quintili (5 parti):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20%, 40%, 60%, 80%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Percentili (100 parti):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P50 = mediana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Decili (10 parti):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10%, 20%, ..., 90%</a:t>
            </a:r>
            <a:endParaRPr/>
          </a:p>
        </p:txBody>
      </p:sp>
      <p:sp>
        <p:nvSpPr>
          <p:cNvPr id="695" name="Google Shape;695;g3abc4445f0a_0_229"/>
          <p:cNvSpPr txBox="1"/>
          <p:nvPr/>
        </p:nvSpPr>
        <p:spPr>
          <a:xfrm>
            <a:off x="4572000" y="1097280"/>
            <a:ext cx="393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📋 TABELLE DI CONTINGENZA</a:t>
            </a:r>
            <a:endParaRPr/>
          </a:p>
        </p:txBody>
      </p:sp>
      <p:sp>
        <p:nvSpPr>
          <p:cNvPr id="696" name="Google Shape;696;g3abc4445f0a_0_229"/>
          <p:cNvSpPr txBox="1"/>
          <p:nvPr/>
        </p:nvSpPr>
        <p:spPr>
          <a:xfrm>
            <a:off x="4572000" y="1508760"/>
            <a:ext cx="3931800" cy="2457600"/>
          </a:xfrm>
          <a:prstGeom prst="rect">
            <a:avLst/>
          </a:prstGeom>
          <a:solidFill>
            <a:srgbClr val="FFF5E6"/>
          </a:solidFill>
          <a:ln cap="flat" cmpd="sng" w="1905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Mostrano frequenze di combinazioni tra variabili categoriche: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table():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Tabella bidimensionale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standard (matrice)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ftable() (flat table):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Tabella "appiattita"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Più variabili in formato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compatto e leggibile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 per: analisi frequenze,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chi-quadrato, relazioni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 variabili qualitative</a:t>
            </a:r>
            <a:endParaRPr/>
          </a:p>
        </p:txBody>
      </p:sp>
      <p:sp>
        <p:nvSpPr>
          <p:cNvPr id="697" name="Google Shape;697;g3abc4445f0a_0_229"/>
          <p:cNvSpPr txBox="1"/>
          <p:nvPr/>
        </p:nvSpPr>
        <p:spPr>
          <a:xfrm>
            <a:off x="590230" y="4555245"/>
            <a:ext cx="7863900" cy="1867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 pratico: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c(50, 60, 70, 80, 90, 100)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quantile(x)          # Quartili di default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0%  25%  50%  75% 100%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50   62.5 75  87.5 100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quantile(x, probs = 0.02)   # Un quantile specifico (2° percentile)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2%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51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abc4445f0a_0_23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Riepilogo - Statistiche Descrittive</a:t>
            </a:r>
            <a:endParaRPr/>
          </a:p>
        </p:txBody>
      </p:sp>
      <p:sp>
        <p:nvSpPr>
          <p:cNvPr id="703" name="Google Shape;703;g3abc4445f0a_0_238"/>
          <p:cNvSpPr txBox="1"/>
          <p:nvPr/>
        </p:nvSpPr>
        <p:spPr>
          <a:xfrm>
            <a:off x="640080" y="137160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quantile(x)</a:t>
            </a:r>
            <a:endParaRPr/>
          </a:p>
        </p:txBody>
      </p:sp>
      <p:sp>
        <p:nvSpPr>
          <p:cNvPr id="704" name="Google Shape;704;g3abc4445f0a_0_238"/>
          <p:cNvSpPr txBox="1"/>
          <p:nvPr/>
        </p:nvSpPr>
        <p:spPr>
          <a:xfrm>
            <a:off x="3017520" y="137160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Quartili (default: 0%, 25%, 50%, 75%, 100%)</a:t>
            </a:r>
            <a:endParaRPr/>
          </a:p>
        </p:txBody>
      </p:sp>
      <p:sp>
        <p:nvSpPr>
          <p:cNvPr id="705" name="Google Shape;705;g3abc4445f0a_0_238"/>
          <p:cNvSpPr txBox="1"/>
          <p:nvPr/>
        </p:nvSpPr>
        <p:spPr>
          <a:xfrm>
            <a:off x="640080" y="192024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quantile(x, probs)</a:t>
            </a:r>
            <a:endParaRPr/>
          </a:p>
        </p:txBody>
      </p:sp>
      <p:sp>
        <p:nvSpPr>
          <p:cNvPr id="706" name="Google Shape;706;g3abc4445f0a_0_238"/>
          <p:cNvSpPr txBox="1"/>
          <p:nvPr/>
        </p:nvSpPr>
        <p:spPr>
          <a:xfrm>
            <a:off x="3017520" y="192024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quantile specifico (es. probs = 0.02 → 2° percentile)</a:t>
            </a:r>
            <a:endParaRPr/>
          </a:p>
        </p:txBody>
      </p:sp>
      <p:sp>
        <p:nvSpPr>
          <p:cNvPr id="707" name="Google Shape;707;g3abc4445f0a_0_238"/>
          <p:cNvSpPr txBox="1"/>
          <p:nvPr/>
        </p:nvSpPr>
        <p:spPr>
          <a:xfrm>
            <a:off x="640080" y="246888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mean(x, trim)</a:t>
            </a:r>
            <a:endParaRPr/>
          </a:p>
        </p:txBody>
      </p:sp>
      <p:sp>
        <p:nvSpPr>
          <p:cNvPr id="708" name="Google Shape;708;g3abc4445f0a_0_238"/>
          <p:cNvSpPr txBox="1"/>
          <p:nvPr/>
        </p:nvSpPr>
        <p:spPr>
          <a:xfrm>
            <a:off x="3017520" y="246888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(trim per media troncata, rimuove outliers)</a:t>
            </a:r>
            <a:endParaRPr/>
          </a:p>
        </p:txBody>
      </p:sp>
      <p:sp>
        <p:nvSpPr>
          <p:cNvPr id="709" name="Google Shape;709;g3abc4445f0a_0_238"/>
          <p:cNvSpPr txBox="1"/>
          <p:nvPr/>
        </p:nvSpPr>
        <p:spPr>
          <a:xfrm>
            <a:off x="640080" y="301752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cor(x, y)</a:t>
            </a:r>
            <a:endParaRPr/>
          </a:p>
        </p:txBody>
      </p:sp>
      <p:sp>
        <p:nvSpPr>
          <p:cNvPr id="710" name="Google Shape;710;g3abc4445f0a_0_238"/>
          <p:cNvSpPr txBox="1"/>
          <p:nvPr/>
        </p:nvSpPr>
        <p:spPr>
          <a:xfrm>
            <a:off x="3017520" y="301752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Coefficiente di correlazione tra due variabili</a:t>
            </a:r>
            <a:endParaRPr/>
          </a:p>
        </p:txBody>
      </p:sp>
      <p:sp>
        <p:nvSpPr>
          <p:cNvPr id="711" name="Google Shape;711;g3abc4445f0a_0_238"/>
          <p:cNvSpPr txBox="1"/>
          <p:nvPr/>
        </p:nvSpPr>
        <p:spPr>
          <a:xfrm>
            <a:off x="640080" y="356616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table(...)</a:t>
            </a:r>
            <a:endParaRPr/>
          </a:p>
        </p:txBody>
      </p:sp>
      <p:sp>
        <p:nvSpPr>
          <p:cNvPr id="712" name="Google Shape;712;g3abc4445f0a_0_238"/>
          <p:cNvSpPr txBox="1"/>
          <p:nvPr/>
        </p:nvSpPr>
        <p:spPr>
          <a:xfrm>
            <a:off x="3017520" y="356616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Tabella di contingenza (frequenze incrociate)</a:t>
            </a:r>
            <a:endParaRPr/>
          </a:p>
        </p:txBody>
      </p:sp>
      <p:sp>
        <p:nvSpPr>
          <p:cNvPr id="713" name="Google Shape;713;g3abc4445f0a_0_238"/>
          <p:cNvSpPr txBox="1"/>
          <p:nvPr/>
        </p:nvSpPr>
        <p:spPr>
          <a:xfrm>
            <a:off x="640080" y="411480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ftable(...)</a:t>
            </a:r>
            <a:endParaRPr/>
          </a:p>
        </p:txBody>
      </p:sp>
      <p:sp>
        <p:nvSpPr>
          <p:cNvPr id="714" name="Google Shape;714;g3abc4445f0a_0_238"/>
          <p:cNvSpPr txBox="1"/>
          <p:nvPr/>
        </p:nvSpPr>
        <p:spPr>
          <a:xfrm>
            <a:off x="3017520" y="411480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Tabella di contingenza "flat" (formato compatto)</a:t>
            </a:r>
            <a:endParaRPr/>
          </a:p>
        </p:txBody>
      </p:sp>
      <p:sp>
        <p:nvSpPr>
          <p:cNvPr id="715" name="Google Shape;715;g3abc4445f0a_0_238"/>
          <p:cNvSpPr txBox="1"/>
          <p:nvPr/>
        </p:nvSpPr>
        <p:spPr>
          <a:xfrm>
            <a:off x="640080" y="4663440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length(x)</a:t>
            </a:r>
            <a:endParaRPr/>
          </a:p>
        </p:txBody>
      </p:sp>
      <p:sp>
        <p:nvSpPr>
          <p:cNvPr id="716" name="Google Shape;716;g3abc4445f0a_0_238"/>
          <p:cNvSpPr txBox="1"/>
          <p:nvPr/>
        </p:nvSpPr>
        <p:spPr>
          <a:xfrm>
            <a:off x="3017520" y="4663440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Lunghezza di un oggetto (numero elementi)</a:t>
            </a:r>
            <a:endParaRPr/>
          </a:p>
        </p:txBody>
      </p:sp>
      <p:sp>
        <p:nvSpPr>
          <p:cNvPr id="717" name="Google Shape;717;g3abc4445f0a_0_238"/>
          <p:cNvSpPr txBox="1"/>
          <p:nvPr/>
        </p:nvSpPr>
        <p:spPr>
          <a:xfrm>
            <a:off x="640080" y="5212079"/>
            <a:ext cx="2286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66CC"/>
                </a:solidFill>
                <a:latin typeface="Courier New"/>
                <a:ea typeface="Courier New"/>
                <a:cs typeface="Courier New"/>
                <a:sym typeface="Courier New"/>
              </a:rPr>
              <a:t>summary(x)</a:t>
            </a:r>
            <a:endParaRPr/>
          </a:p>
        </p:txBody>
      </p:sp>
      <p:sp>
        <p:nvSpPr>
          <p:cNvPr id="718" name="Google Shape;718;g3abc4445f0a_0_238"/>
          <p:cNvSpPr txBox="1"/>
          <p:nvPr/>
        </p:nvSpPr>
        <p:spPr>
          <a:xfrm>
            <a:off x="3017520" y="5212079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Statistiche descrittive complete (min, Q1, media, Q3, max)</a:t>
            </a:r>
            <a:endParaRPr/>
          </a:p>
        </p:txBody>
      </p:sp>
      <p:sp>
        <p:nvSpPr>
          <p:cNvPr id="719" name="Google Shape;719;g3abc4445f0a_0_238"/>
          <p:cNvSpPr txBox="1"/>
          <p:nvPr/>
        </p:nvSpPr>
        <p:spPr>
          <a:xfrm>
            <a:off x="640080" y="5943600"/>
            <a:ext cx="7863900" cy="2769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Tutte queste funzioni supportano il parametro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na.rm = TRUE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 gestire valori mancanti (NA)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6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Statistiche Descrittive di Base</a:t>
            </a:r>
            <a:endParaRPr/>
          </a:p>
        </p:txBody>
      </p:sp>
      <p:sp>
        <p:nvSpPr>
          <p:cNvPr id="725" name="Google Shape;725;p26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6"/>
          <p:cNvSpPr txBox="1"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sum(x)</a:t>
            </a:r>
            <a:endParaRPr/>
          </a:p>
        </p:txBody>
      </p:sp>
      <p:sp>
        <p:nvSpPr>
          <p:cNvPr id="727" name="Google Shape;727;p26"/>
          <p:cNvSpPr txBox="1"/>
          <p:nvPr/>
        </p:nvSpPr>
        <p:spPr>
          <a:xfrm>
            <a:off x="2926080" y="13716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Somma degli elementi</a:t>
            </a:r>
            <a:endParaRPr/>
          </a:p>
        </p:txBody>
      </p:sp>
      <p:sp>
        <p:nvSpPr>
          <p:cNvPr id="728" name="Google Shape;728;p26"/>
          <p:cNvSpPr txBox="1"/>
          <p:nvPr/>
        </p:nvSpPr>
        <p:spPr>
          <a:xfrm>
            <a:off x="731520" y="1847088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prod(x)</a:t>
            </a:r>
            <a:endParaRPr/>
          </a:p>
        </p:txBody>
      </p:sp>
      <p:sp>
        <p:nvSpPr>
          <p:cNvPr id="729" name="Google Shape;729;p26"/>
          <p:cNvSpPr txBox="1"/>
          <p:nvPr/>
        </p:nvSpPr>
        <p:spPr>
          <a:xfrm>
            <a:off x="2926080" y="184708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Prodotto degli elementi</a:t>
            </a:r>
            <a:endParaRPr/>
          </a:p>
        </p:txBody>
      </p:sp>
      <p:sp>
        <p:nvSpPr>
          <p:cNvPr id="730" name="Google Shape;730;p26"/>
          <p:cNvSpPr txBox="1"/>
          <p:nvPr/>
        </p:nvSpPr>
        <p:spPr>
          <a:xfrm>
            <a:off x="731520" y="2322576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mean(x)</a:t>
            </a:r>
            <a:endParaRPr/>
          </a:p>
        </p:txBody>
      </p:sp>
      <p:sp>
        <p:nvSpPr>
          <p:cNvPr id="731" name="Google Shape;731;p26"/>
          <p:cNvSpPr txBox="1"/>
          <p:nvPr/>
        </p:nvSpPr>
        <p:spPr>
          <a:xfrm>
            <a:off x="2926080" y="23225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 aritmetica</a:t>
            </a:r>
            <a:endParaRPr/>
          </a:p>
        </p:txBody>
      </p:sp>
      <p:sp>
        <p:nvSpPr>
          <p:cNvPr id="732" name="Google Shape;732;p26"/>
          <p:cNvSpPr txBox="1"/>
          <p:nvPr/>
        </p:nvSpPr>
        <p:spPr>
          <a:xfrm>
            <a:off x="731520" y="2798064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median(x)</a:t>
            </a:r>
            <a:endParaRPr/>
          </a:p>
        </p:txBody>
      </p:sp>
      <p:sp>
        <p:nvSpPr>
          <p:cNvPr id="733" name="Google Shape;733;p26"/>
          <p:cNvSpPr txBox="1"/>
          <p:nvPr/>
        </p:nvSpPr>
        <p:spPr>
          <a:xfrm>
            <a:off x="2926080" y="279806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Mediana (valore centrale)</a:t>
            </a:r>
            <a:endParaRPr/>
          </a:p>
        </p:txBody>
      </p:sp>
      <p:sp>
        <p:nvSpPr>
          <p:cNvPr id="734" name="Google Shape;734;p26"/>
          <p:cNvSpPr txBox="1"/>
          <p:nvPr/>
        </p:nvSpPr>
        <p:spPr>
          <a:xfrm>
            <a:off x="731520" y="3273552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var(x)</a:t>
            </a:r>
            <a:endParaRPr/>
          </a:p>
        </p:txBody>
      </p:sp>
      <p:sp>
        <p:nvSpPr>
          <p:cNvPr id="735" name="Google Shape;735;p26"/>
          <p:cNvSpPr txBox="1"/>
          <p:nvPr/>
        </p:nvSpPr>
        <p:spPr>
          <a:xfrm>
            <a:off x="2926080" y="327355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Varianza</a:t>
            </a:r>
            <a:endParaRPr/>
          </a:p>
        </p:txBody>
      </p:sp>
      <p:sp>
        <p:nvSpPr>
          <p:cNvPr id="736" name="Google Shape;736;p26"/>
          <p:cNvSpPr txBox="1"/>
          <p:nvPr/>
        </p:nvSpPr>
        <p:spPr>
          <a:xfrm>
            <a:off x="4754880" y="1371600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sd(x)</a:t>
            </a:r>
            <a:endParaRPr/>
          </a:p>
        </p:txBody>
      </p:sp>
      <p:sp>
        <p:nvSpPr>
          <p:cNvPr id="737" name="Google Shape;737;p26"/>
          <p:cNvSpPr txBox="1"/>
          <p:nvPr/>
        </p:nvSpPr>
        <p:spPr>
          <a:xfrm>
            <a:off x="6949440" y="13716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Deviazione standard</a:t>
            </a:r>
            <a:endParaRPr/>
          </a:p>
        </p:txBody>
      </p:sp>
      <p:sp>
        <p:nvSpPr>
          <p:cNvPr id="738" name="Google Shape;738;p26"/>
          <p:cNvSpPr txBox="1"/>
          <p:nvPr/>
        </p:nvSpPr>
        <p:spPr>
          <a:xfrm>
            <a:off x="4754880" y="1847088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min(x) / max(x)</a:t>
            </a:r>
            <a:endParaRPr/>
          </a:p>
        </p:txBody>
      </p:sp>
      <p:sp>
        <p:nvSpPr>
          <p:cNvPr id="739" name="Google Shape;739;p26"/>
          <p:cNvSpPr txBox="1"/>
          <p:nvPr/>
        </p:nvSpPr>
        <p:spPr>
          <a:xfrm>
            <a:off x="6949440" y="184708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Minimo e massimo</a:t>
            </a:r>
            <a:endParaRPr/>
          </a:p>
        </p:txBody>
      </p:sp>
      <p:sp>
        <p:nvSpPr>
          <p:cNvPr id="740" name="Google Shape;740;p26"/>
          <p:cNvSpPr txBox="1"/>
          <p:nvPr/>
        </p:nvSpPr>
        <p:spPr>
          <a:xfrm>
            <a:off x="4754880" y="2322576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range(x)</a:t>
            </a:r>
            <a:endParaRPr/>
          </a:p>
        </p:txBody>
      </p:sp>
      <p:sp>
        <p:nvSpPr>
          <p:cNvPr id="741" name="Google Shape;741;p26"/>
          <p:cNvSpPr txBox="1"/>
          <p:nvPr/>
        </p:nvSpPr>
        <p:spPr>
          <a:xfrm>
            <a:off x="6949440" y="232257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Intervallo (min, max)</a:t>
            </a:r>
            <a:endParaRPr/>
          </a:p>
        </p:txBody>
      </p:sp>
      <p:sp>
        <p:nvSpPr>
          <p:cNvPr id="742" name="Google Shape;742;p26"/>
          <p:cNvSpPr txBox="1"/>
          <p:nvPr/>
        </p:nvSpPr>
        <p:spPr>
          <a:xfrm>
            <a:off x="4754880" y="2798064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quantile(x)</a:t>
            </a:r>
            <a:endParaRPr/>
          </a:p>
        </p:txBody>
      </p:sp>
      <p:sp>
        <p:nvSpPr>
          <p:cNvPr id="743" name="Google Shape;743;p26"/>
          <p:cNvSpPr txBox="1"/>
          <p:nvPr/>
        </p:nvSpPr>
        <p:spPr>
          <a:xfrm>
            <a:off x="6949440" y="279806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Quantili</a:t>
            </a:r>
            <a:endParaRPr/>
          </a:p>
        </p:txBody>
      </p:sp>
      <p:sp>
        <p:nvSpPr>
          <p:cNvPr id="744" name="Google Shape;744;p26"/>
          <p:cNvSpPr txBox="1"/>
          <p:nvPr/>
        </p:nvSpPr>
        <p:spPr>
          <a:xfrm>
            <a:off x="4754880" y="3273552"/>
            <a:ext cx="20116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cor(x, y)</a:t>
            </a:r>
            <a:endParaRPr/>
          </a:p>
        </p:txBody>
      </p:sp>
      <p:sp>
        <p:nvSpPr>
          <p:cNvPr id="745" name="Google Shape;745;p26"/>
          <p:cNvSpPr txBox="1"/>
          <p:nvPr/>
        </p:nvSpPr>
        <p:spPr>
          <a:xfrm>
            <a:off x="6949440" y="327355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Correlazione tra x e y</a:t>
            </a:r>
            <a:endParaRPr/>
          </a:p>
        </p:txBody>
      </p:sp>
      <p:sp>
        <p:nvSpPr>
          <p:cNvPr id="746" name="Google Shape;746;p26"/>
          <p:cNvSpPr txBox="1"/>
          <p:nvPr/>
        </p:nvSpPr>
        <p:spPr>
          <a:xfrm>
            <a:off x="914400" y="4114800"/>
            <a:ext cx="7315200" cy="1645920"/>
          </a:xfrm>
          <a:prstGeom prst="rect">
            <a:avLst/>
          </a:prstGeom>
          <a:solidFill>
            <a:srgbClr val="FFFAC8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Gestione dei valori mancanti (NA)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ci sono NA, molte funzioni restituiscono NA come risultato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Soluzione: aggiungere na.rm = TRUE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Esempio: mean(voti, na.rm = TRUE)  # Ignora i NA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bc4445f0a_0_347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6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aca3b402e2_0_0"/>
          <p:cNvSpPr txBox="1"/>
          <p:nvPr/>
        </p:nvSpPr>
        <p:spPr>
          <a:xfrm>
            <a:off x="457200" y="228600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Grafici Univariati</a:t>
            </a:r>
            <a:endParaRPr/>
          </a:p>
        </p:txBody>
      </p:sp>
      <p:sp>
        <p:nvSpPr>
          <p:cNvPr id="757" name="Google Shape;757;g3aca3b402e2_0_0"/>
          <p:cNvSpPr txBox="1"/>
          <p:nvPr/>
        </p:nvSpPr>
        <p:spPr>
          <a:xfrm>
            <a:off x="2743200" y="3200400"/>
            <a:ext cx="3657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Visualizzazione di una singola variabile</a:t>
            </a:r>
            <a:endParaRPr/>
          </a:p>
        </p:txBody>
      </p:sp>
      <p:sp>
        <p:nvSpPr>
          <p:cNvPr id="758" name="Google Shape;758;g3aca3b402e2_0_0"/>
          <p:cNvSpPr txBox="1"/>
          <p:nvPr/>
        </p:nvSpPr>
        <p:spPr>
          <a:xfrm>
            <a:off x="3921875" y="723550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7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ca3b402e2_0_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Funzione Generica - plot()</a:t>
            </a:r>
            <a:endParaRPr/>
          </a:p>
        </p:txBody>
      </p:sp>
      <p:sp>
        <p:nvSpPr>
          <p:cNvPr id="764" name="Google Shape;764;g3aca3b402e2_0_5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plot() è una funzione generica che crea grafici adattandosi automaticamente al tipo di dato</a:t>
            </a:r>
            <a:endParaRPr/>
          </a:p>
        </p:txBody>
      </p:sp>
      <p:sp>
        <p:nvSpPr>
          <p:cNvPr id="765" name="Google Shape;765;g3aca3b402e2_0_5"/>
          <p:cNvSpPr txBox="1"/>
          <p:nvPr/>
        </p:nvSpPr>
        <p:spPr>
          <a:xfrm>
            <a:off x="640080" y="1828800"/>
            <a:ext cx="4114800" cy="2642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Esempio con variabile qualitativa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 'F', 'M', 'F', 'F')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plot(genere)    </a:t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#meglio</a:t>
            </a: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genere &lt;- c('M', 'F', 'M', 'F', 'F')</a:t>
            </a:r>
            <a:endParaRPr sz="10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genere_factor &lt;- factor(genere)</a:t>
            </a:r>
            <a:endParaRPr sz="10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plot(genere_factor)</a:t>
            </a: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✅ Crea grafico a barre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frequenze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plot(table(genere))   # ✅ Crea bastoncini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aca3b402e2_0_5"/>
          <p:cNvSpPr txBox="1"/>
          <p:nvPr/>
        </p:nvSpPr>
        <p:spPr>
          <a:xfrm>
            <a:off x="640080" y="4572000"/>
            <a:ext cx="7863900" cy="992700"/>
          </a:xfrm>
          <a:prstGeom prst="rect">
            <a:avLst/>
          </a:prstGeom>
          <a:solidFill>
            <a:srgbClr val="FFF0F0"/>
          </a:solidFill>
          <a:ln cap="flat" cmpd="sng" w="1905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ATTENZIONE - Limiti di plot():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Non sempre produce grafici sensati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Qualità grafica base lascia a desiderare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Meglio usare funzioni specifiche con parametri personalizzati</a:t>
            </a:r>
            <a:endParaRPr/>
          </a:p>
        </p:txBody>
      </p:sp>
      <p:pic>
        <p:nvPicPr>
          <p:cNvPr id="767" name="Google Shape;767;g3aca3b402e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150" y="1828705"/>
            <a:ext cx="1591875" cy="13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g3aca3b402e2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1725" y="2928848"/>
            <a:ext cx="1772350" cy="15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ca3b402e2_0_13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plot() - Quando NON Funziona Bene</a:t>
            </a:r>
            <a:endParaRPr/>
          </a:p>
        </p:txBody>
      </p:sp>
      <p:sp>
        <p:nvSpPr>
          <p:cNvPr id="774" name="Google Shape;774;g3aca3b402e2_0_13"/>
          <p:cNvSpPr txBox="1"/>
          <p:nvPr/>
        </p:nvSpPr>
        <p:spPr>
          <a:xfrm>
            <a:off x="640080" y="1097280"/>
            <a:ext cx="5029200" cy="1503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Variabile numerica → Scatter (spesso inutile)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reddito &lt;- c(25, 30, 45, 28, 35, 40, 32)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plot(reddito)         # ❌ Valori vs indice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table() su continue → Bastoncini (ERRATO)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eta &lt;- c(25, 30, 45, 28, 35, 40, 32, 29)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plot(table(eta))      # ❌ NO per continue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OK solo per discrete o qualitative</a:t>
            </a:r>
            <a:endParaRPr/>
          </a:p>
        </p:txBody>
      </p:sp>
      <p:sp>
        <p:nvSpPr>
          <p:cNvPr id="775" name="Google Shape;775;g3aca3b402e2_0_13"/>
          <p:cNvSpPr txBox="1"/>
          <p:nvPr/>
        </p:nvSpPr>
        <p:spPr>
          <a:xfrm>
            <a:off x="640080" y="3566160"/>
            <a:ext cx="7863900" cy="16470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Grafici appropriati per tipo di variabile: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Qualitative → barplot(), pie()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Quantitative discrete → barplot(table(x))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Quantitative continue → hist(), density(), boxplot()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 Scatter plot univariato: raramente utile</a:t>
            </a:r>
            <a:endParaRPr/>
          </a:p>
        </p:txBody>
      </p:sp>
      <p:pic>
        <p:nvPicPr>
          <p:cNvPr id="776" name="Google Shape;776;g3aca3b402e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6100" y="1055475"/>
            <a:ext cx="3077901" cy="158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aca3b402e2_0_20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Istogramma - hist()</a:t>
            </a:r>
            <a:endParaRPr/>
          </a:p>
        </p:txBody>
      </p:sp>
      <p:sp>
        <p:nvSpPr>
          <p:cNvPr id="782" name="Google Shape;782;g3aca3b402e2_0_20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variabili quantitative continue - approssimazione della distribuzione</a:t>
            </a:r>
            <a:endParaRPr/>
          </a:p>
        </p:txBody>
      </p:sp>
      <p:sp>
        <p:nvSpPr>
          <p:cNvPr id="783" name="Google Shape;783;g3aca3b402e2_0_20"/>
          <p:cNvSpPr txBox="1"/>
          <p:nvPr/>
        </p:nvSpPr>
        <p:spPr>
          <a:xfrm>
            <a:off x="640080" y="1691640"/>
            <a:ext cx="4572000" cy="168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dati &lt;- c(25, 30, 45, 28, 35, 40, 32, 29, 38, 42)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hist(dati, 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freq = FALSE,  # Densità non frequenze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</a:t>
            </a: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main = 'Istogramma',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xlab = 'Valori',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col = 'lightblue')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freq = FALSE mostra densità (area = 1)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freq = TRUE mostra conteggi</a:t>
            </a:r>
            <a:endParaRPr/>
          </a:p>
        </p:txBody>
      </p:sp>
      <p:sp>
        <p:nvSpPr>
          <p:cNvPr id="784" name="Google Shape;784;g3aca3b402e2_0_20"/>
          <p:cNvSpPr txBox="1"/>
          <p:nvPr/>
        </p:nvSpPr>
        <p:spPr>
          <a:xfrm>
            <a:off x="640080" y="4114800"/>
            <a:ext cx="7863900" cy="1149300"/>
          </a:xfrm>
          <a:prstGeom prst="rect">
            <a:avLst/>
          </a:prstGeom>
          <a:solidFill>
            <a:srgbClr val="FFF0F0"/>
          </a:solidFill>
          <a:ln cap="flat" cmpd="sng" w="1905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Istogramma = Approssimazione 'Grossolana':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Dipende dal numero di bins (barre) scelto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Poco preciso con campioni piccoli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 curva a gradini è solo un'approssimazione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density() offre stima più raffinata</a:t>
            </a:r>
            <a:endParaRPr/>
          </a:p>
        </p:txBody>
      </p:sp>
      <p:pic>
        <p:nvPicPr>
          <p:cNvPr id="785" name="Google Shape;785;g3aca3b402e2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705" y="1551605"/>
            <a:ext cx="3627119" cy="2278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ca3b402e2_0_2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Istogramma + Curva di Densità</a:t>
            </a:r>
            <a:endParaRPr/>
          </a:p>
        </p:txBody>
      </p:sp>
      <p:sp>
        <p:nvSpPr>
          <p:cNvPr id="791" name="Google Shape;791;g3aca3b402e2_0_28"/>
          <p:cNvSpPr txBox="1"/>
          <p:nvPr/>
        </p:nvSpPr>
        <p:spPr>
          <a:xfrm>
            <a:off x="640080" y="1097280"/>
            <a:ext cx="5029200" cy="2940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Dati di esempio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altezza &lt;- c(155:180, 155:175, 155:160)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Istogramma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hist(altezza, freq = FALSE,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main = 'Distribuzione Altezze',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xlab = 'Altezza (cm)',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ylab = 'Densità',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col = 'lightblue',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border = 'white')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Sovrapporre densità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lines(density(altezza), 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lty = 2,      # Linea tratteggiata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col = 'red',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lwd = 2)      # Spessore 2</a:t>
            </a:r>
            <a:endParaRPr/>
          </a:p>
        </p:txBody>
      </p:sp>
      <p:sp>
        <p:nvSpPr>
          <p:cNvPr id="792" name="Google Shape;792;g3aca3b402e2_0_28"/>
          <p:cNvSpPr txBox="1"/>
          <p:nvPr/>
        </p:nvSpPr>
        <p:spPr>
          <a:xfrm>
            <a:off x="640080" y="4937760"/>
            <a:ext cx="7863900" cy="2616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lines() aggiunge elementi a grafico esistente. La curva rossa è la distribuzione 'liscia' (kernel density)</a:t>
            </a:r>
            <a:endParaRPr/>
          </a:p>
        </p:txBody>
      </p:sp>
      <p:pic>
        <p:nvPicPr>
          <p:cNvPr id="793" name="Google Shape;793;g3aca3b402e2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680" y="2080680"/>
            <a:ext cx="3169919" cy="192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aca3b402e2_0_3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Grafico a Torta - pie()</a:t>
            </a:r>
            <a:endParaRPr/>
          </a:p>
        </p:txBody>
      </p:sp>
      <p:sp>
        <p:nvSpPr>
          <p:cNvPr id="799" name="Google Shape;799;g3aca3b402e2_0_35"/>
          <p:cNvSpPr txBox="1"/>
          <p:nvPr/>
        </p:nvSpPr>
        <p:spPr>
          <a:xfrm>
            <a:off x="640080" y="1097280"/>
            <a:ext cx="4572000" cy="2401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❌ ERRORE: passare dati raw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c('M', 'F', 'M', 'F', 'F')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pie(x)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[1] Errore: valori devono essere positivi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✅ CORRETTO: passare frequenze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pie(table(x))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personalizzazione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pie(table(x),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main = 'Genere',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col = c('pink', 'lightblue'),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init.angle = 90)  # Rotazione</a:t>
            </a:r>
            <a:endParaRPr/>
          </a:p>
        </p:txBody>
      </p:sp>
      <p:sp>
        <p:nvSpPr>
          <p:cNvPr id="800" name="Google Shape;800;g3aca3b402e2_0_35"/>
          <p:cNvSpPr txBox="1"/>
          <p:nvPr/>
        </p:nvSpPr>
        <p:spPr>
          <a:xfrm>
            <a:off x="640080" y="4023360"/>
            <a:ext cx="7863900" cy="1149300"/>
          </a:xfrm>
          <a:prstGeom prst="rect">
            <a:avLst/>
          </a:prstGeom>
          <a:solidFill>
            <a:srgbClr val="FFF0F0"/>
          </a:solidFill>
          <a:ln cap="flat" cmpd="sng" w="1905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Grafici base R sono spartani: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Mancano percentuali visibili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Titoli poco informativi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Legende assenti o incomplete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SOLUZIONE: usare parametri per personalizzare!</a:t>
            </a:r>
            <a:endParaRPr/>
          </a:p>
        </p:txBody>
      </p:sp>
      <p:pic>
        <p:nvPicPr>
          <p:cNvPr id="801" name="Google Shape;801;g3aca3b402e2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674" y="855830"/>
            <a:ext cx="1270250" cy="1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g3aca3b402e2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8100" y="2014627"/>
            <a:ext cx="1615250" cy="16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ca3b402e2_0_42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Grafico a Barre - barplot()</a:t>
            </a:r>
            <a:endParaRPr/>
          </a:p>
        </p:txBody>
      </p:sp>
      <p:sp>
        <p:nvSpPr>
          <p:cNvPr id="808" name="Google Shape;808;g3aca3b402e2_0_42"/>
          <p:cNvSpPr txBox="1"/>
          <p:nvPr/>
        </p:nvSpPr>
        <p:spPr>
          <a:xfrm>
            <a:off x="640080" y="1097280"/>
            <a:ext cx="4755000" cy="2580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c('alto','alto','basso','basso','basso')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Frequenze assolute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barplot(table(y))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Frequenze relative (%)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barplot(table(y) / length(y))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Personalizzato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barplot(table(y),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col = c('lightblue', 'lightgreen'),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main = 'Distribuzione',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legend.text = TRUE,  # Leggenda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horiz = TRUE)        # Orizzontale</a:t>
            </a:r>
            <a:endParaRPr/>
          </a:p>
        </p:txBody>
      </p:sp>
      <p:sp>
        <p:nvSpPr>
          <p:cNvPr id="809" name="Google Shape;809;g3aca3b402e2_0_42"/>
          <p:cNvSpPr txBox="1"/>
          <p:nvPr/>
        </p:nvSpPr>
        <p:spPr>
          <a:xfrm>
            <a:off x="640080" y="4480560"/>
            <a:ext cx="7863900" cy="4668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 Parametri utili (?barplot):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col: colori | legend.text: leggenda | horiz: orientamento | main: titolo | xlab/ylab: etichette assi</a:t>
            </a:r>
            <a:endParaRPr/>
          </a:p>
        </p:txBody>
      </p:sp>
      <p:pic>
        <p:nvPicPr>
          <p:cNvPr id="810" name="Google Shape;810;g3aca3b402e2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755" y="1198405"/>
            <a:ext cx="3444120" cy="2049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aca3b402e2_0_4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Boxplot - Scatola e Baffi</a:t>
            </a:r>
            <a:endParaRPr/>
          </a:p>
        </p:txBody>
      </p:sp>
      <p:sp>
        <p:nvSpPr>
          <p:cNvPr id="816" name="Google Shape;816;g3aca3b402e2_0_49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variabili quantitative - mostra distribuzione, mediana, quartili e outliers</a:t>
            </a:r>
            <a:endParaRPr/>
          </a:p>
        </p:txBody>
      </p:sp>
      <p:sp>
        <p:nvSpPr>
          <p:cNvPr id="817" name="Google Shape;817;g3aca3b402e2_0_49"/>
          <p:cNvSpPr txBox="1"/>
          <p:nvPr/>
        </p:nvSpPr>
        <p:spPr>
          <a:xfrm>
            <a:off x="640080" y="1600200"/>
            <a:ext cx="4114800" cy="2401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c(3,4,6,7,12,4,10,4,12,13,5)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boxplot(x)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Personalizzato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boxplot(x,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horizontal = TRUE,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border = 'blue',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col = 'lightblue',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main = 'Distribuzione',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xlab = 'Valori')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Multipli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boxplot(col1, col2, col3)</a:t>
            </a:r>
            <a:endParaRPr/>
          </a:p>
        </p:txBody>
      </p:sp>
      <p:sp>
        <p:nvSpPr>
          <p:cNvPr id="818" name="Google Shape;818;g3aca3b402e2_0_49"/>
          <p:cNvSpPr txBox="1"/>
          <p:nvPr/>
        </p:nvSpPr>
        <p:spPr>
          <a:xfrm>
            <a:off x="640080" y="4480560"/>
            <a:ext cx="7863900" cy="10980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Componenti Boxplot: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Linea centrale: MEDIANA (Q2, 50%)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Scatola: Q1 (25%) a Q3 (75%) - IQR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Baffi: fino a 1.5×IQR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Pallini (●): OUTLIERS oltre i baffi</a:t>
            </a:r>
            <a:endParaRPr/>
          </a:p>
        </p:txBody>
      </p:sp>
      <p:pic>
        <p:nvPicPr>
          <p:cNvPr id="819" name="Google Shape;819;g3aca3b402e2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599" y="1600200"/>
            <a:ext cx="3944046" cy="24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ca3b402e2_0_57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Boxplot - Outliers e Confronti</a:t>
            </a:r>
            <a:endParaRPr/>
          </a:p>
        </p:txBody>
      </p:sp>
      <p:sp>
        <p:nvSpPr>
          <p:cNvPr id="825" name="Google Shape;825;g3aca3b402e2_0_57"/>
          <p:cNvSpPr txBox="1"/>
          <p:nvPr/>
        </p:nvSpPr>
        <p:spPr>
          <a:xfrm>
            <a:off x="640080" y="1097280"/>
            <a:ext cx="5029200" cy="204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outliers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dati &lt;- c(10,12,13,14,15,16,17,18,100)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boxplot(dati, main='Con Outlier')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100 apparirà come pallino ●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Confronto gruppi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boxplot(gruppo1, gruppo2, gruppo3,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names=c('G1','G2','G3'),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col=c('lightblue','lightgreen',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      'lightpink'),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main='Confronto Gruppi')</a:t>
            </a:r>
            <a:endParaRPr/>
          </a:p>
        </p:txBody>
      </p:sp>
      <p:sp>
        <p:nvSpPr>
          <p:cNvPr id="826" name="Google Shape;826;g3aca3b402e2_0_57"/>
          <p:cNvSpPr txBox="1"/>
          <p:nvPr/>
        </p:nvSpPr>
        <p:spPr>
          <a:xfrm>
            <a:off x="640080" y="4023360"/>
            <a:ext cx="7863900" cy="11493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Utilità Boxplot: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CONFRONTARE distribuzioni affiancando più boxplot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IDENTIFICARE outliers (●) - valori anomali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VEDERE asimmetria: mediana spostata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VALUTARE variabilità: scatole larghe = dati dispersi</a:t>
            </a:r>
            <a:endParaRPr/>
          </a:p>
        </p:txBody>
      </p:sp>
      <p:pic>
        <p:nvPicPr>
          <p:cNvPr id="827" name="Google Shape;827;g3aca3b402e2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4300" y="1097277"/>
            <a:ext cx="2892499" cy="21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ca3b402e2_0_6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Stima Distribuzione - density()</a:t>
            </a:r>
            <a:endParaRPr/>
          </a:p>
        </p:txBody>
      </p:sp>
      <p:sp>
        <p:nvSpPr>
          <p:cNvPr id="833" name="Google Shape;833;g3aca3b402e2_0_65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 più preciso dell'istogramma - curva liscia kernel density</a:t>
            </a:r>
            <a:endParaRPr/>
          </a:p>
        </p:txBody>
      </p:sp>
      <p:sp>
        <p:nvSpPr>
          <p:cNvPr id="834" name="Google Shape;834;g3aca3b402e2_0_65"/>
          <p:cNvSpPr txBox="1"/>
          <p:nvPr/>
        </p:nvSpPr>
        <p:spPr>
          <a:xfrm>
            <a:off x="640080" y="1691640"/>
            <a:ext cx="5029200" cy="2221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dati &lt;- c(25,30,45,28,35,40,32,29,38,42)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Solo density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plot(density(dati),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main='Distribuzione',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lwd=2, col='blue')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Hist + density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hist(dati, freq=FALSE,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col='lightgray')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lines(density(dati),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lty=2, col='red', lwd=2)</a:t>
            </a:r>
            <a:endParaRPr/>
          </a:p>
        </p:txBody>
      </p:sp>
      <p:sp>
        <p:nvSpPr>
          <p:cNvPr id="835" name="Google Shape;835;g3aca3b402e2_0_65"/>
          <p:cNvSpPr txBox="1"/>
          <p:nvPr/>
        </p:nvSpPr>
        <p:spPr>
          <a:xfrm>
            <a:off x="640080" y="4572000"/>
            <a:ext cx="7863900" cy="7131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 density() vs hist():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density(): curva LISCIA, più precisa, non dipende da bins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hist(): a GRADINI, intuitivo ma grossolano, dipende da bins</a:t>
            </a:r>
            <a:endParaRPr/>
          </a:p>
        </p:txBody>
      </p:sp>
      <p:pic>
        <p:nvPicPr>
          <p:cNvPr id="836" name="Google Shape;836;g3aca3b402e2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839" y="1532650"/>
            <a:ext cx="400181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aca3b402e2_0_74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Aggiungere Elementi - lines() e points()</a:t>
            </a:r>
            <a:endParaRPr/>
          </a:p>
        </p:txBody>
      </p:sp>
      <p:sp>
        <p:nvSpPr>
          <p:cNvPr id="842" name="Google Shape;842;g3aca3b402e2_0_74"/>
          <p:cNvSpPr txBox="1"/>
          <p:nvPr/>
        </p:nvSpPr>
        <p:spPr>
          <a:xfrm>
            <a:off x="640080" y="1097280"/>
            <a:ext cx="5029200" cy="2760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Grafico base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&lt;- 1:10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y &lt;- x^2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plot(x, y, type='p', pch=19)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Aggiungere linea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lines(x, y, col='blue', lwd=2)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Aggiungere punti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points(c(2,4,6), c(10,20,30),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col='red', pch=17, cex=2)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Linee riferimento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abline(h=50, lty=3, col='gray')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abline(v=5, lty=3, col='gray')</a:t>
            </a:r>
            <a:endParaRPr/>
          </a:p>
        </p:txBody>
      </p:sp>
      <p:sp>
        <p:nvSpPr>
          <p:cNvPr id="843" name="Google Shape;843;g3aca3b402e2_0_74"/>
          <p:cNvSpPr txBox="1"/>
          <p:nvPr/>
        </p:nvSpPr>
        <p:spPr>
          <a:xfrm>
            <a:off x="640080" y="4754880"/>
            <a:ext cx="7863900" cy="4824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🔧 Funzioni Overlay: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lines(): aggiungi linee | points(): aggiungi punti | abline(): linee rette (h/v) | text(): testo</a:t>
            </a:r>
            <a:endParaRPr/>
          </a:p>
        </p:txBody>
      </p:sp>
      <p:pic>
        <p:nvPicPr>
          <p:cNvPr id="844" name="Google Shape;844;g3aca3b402e2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880" y="1681310"/>
            <a:ext cx="3169921" cy="1875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aca3b402e2_0_8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Riepilogo Grafici Univariati</a:t>
            </a:r>
            <a:endParaRPr/>
          </a:p>
        </p:txBody>
      </p:sp>
      <p:sp>
        <p:nvSpPr>
          <p:cNvPr id="850" name="Google Shape;850;g3aca3b402e2_0_81"/>
          <p:cNvSpPr txBox="1"/>
          <p:nvPr/>
        </p:nvSpPr>
        <p:spPr>
          <a:xfrm>
            <a:off x="640080" y="1371600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plot(x)</a:t>
            </a:r>
            <a:endParaRPr/>
          </a:p>
        </p:txBody>
      </p:sp>
      <p:sp>
        <p:nvSpPr>
          <p:cNvPr id="851" name="Google Shape;851;g3aca3b402e2_0_81"/>
          <p:cNvSpPr txBox="1"/>
          <p:nvPr/>
        </p:nvSpPr>
        <p:spPr>
          <a:xfrm>
            <a:off x="3017520" y="1371600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Generico</a:t>
            </a:r>
            <a:endParaRPr/>
          </a:p>
        </p:txBody>
      </p:sp>
      <p:sp>
        <p:nvSpPr>
          <p:cNvPr id="852" name="Google Shape;852;g3aca3b402e2_0_81"/>
          <p:cNvSpPr txBox="1"/>
          <p:nvPr/>
        </p:nvSpPr>
        <p:spPr>
          <a:xfrm>
            <a:off x="5669280" y="1371600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Adatta al tipo</a:t>
            </a:r>
            <a:endParaRPr/>
          </a:p>
        </p:txBody>
      </p:sp>
      <p:sp>
        <p:nvSpPr>
          <p:cNvPr id="853" name="Google Shape;853;g3aca3b402e2_0_81"/>
          <p:cNvSpPr txBox="1"/>
          <p:nvPr/>
        </p:nvSpPr>
        <p:spPr>
          <a:xfrm>
            <a:off x="640080" y="1847088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hist(x)</a:t>
            </a:r>
            <a:endParaRPr/>
          </a:p>
        </p:txBody>
      </p:sp>
      <p:sp>
        <p:nvSpPr>
          <p:cNvPr id="854" name="Google Shape;854;g3aca3b402e2_0_81"/>
          <p:cNvSpPr txBox="1"/>
          <p:nvPr/>
        </p:nvSpPr>
        <p:spPr>
          <a:xfrm>
            <a:off x="3017520" y="1847088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Istogramma</a:t>
            </a:r>
            <a:endParaRPr/>
          </a:p>
        </p:txBody>
      </p:sp>
      <p:sp>
        <p:nvSpPr>
          <p:cNvPr id="855" name="Google Shape;855;g3aca3b402e2_0_81"/>
          <p:cNvSpPr txBox="1"/>
          <p:nvPr/>
        </p:nvSpPr>
        <p:spPr>
          <a:xfrm>
            <a:off x="5669280" y="1847088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Quant. continue</a:t>
            </a:r>
            <a:endParaRPr/>
          </a:p>
        </p:txBody>
      </p:sp>
      <p:sp>
        <p:nvSpPr>
          <p:cNvPr id="856" name="Google Shape;856;g3aca3b402e2_0_81"/>
          <p:cNvSpPr txBox="1"/>
          <p:nvPr/>
        </p:nvSpPr>
        <p:spPr>
          <a:xfrm>
            <a:off x="640080" y="2322576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barplot(table(x))</a:t>
            </a:r>
            <a:endParaRPr/>
          </a:p>
        </p:txBody>
      </p:sp>
      <p:sp>
        <p:nvSpPr>
          <p:cNvPr id="857" name="Google Shape;857;g3aca3b402e2_0_81"/>
          <p:cNvSpPr txBox="1"/>
          <p:nvPr/>
        </p:nvSpPr>
        <p:spPr>
          <a:xfrm>
            <a:off x="3017520" y="2322576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Barre</a:t>
            </a:r>
            <a:endParaRPr/>
          </a:p>
        </p:txBody>
      </p:sp>
      <p:sp>
        <p:nvSpPr>
          <p:cNvPr id="858" name="Google Shape;858;g3aca3b402e2_0_81"/>
          <p:cNvSpPr txBox="1"/>
          <p:nvPr/>
        </p:nvSpPr>
        <p:spPr>
          <a:xfrm>
            <a:off x="5669280" y="2322576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Qualitative</a:t>
            </a:r>
            <a:endParaRPr/>
          </a:p>
        </p:txBody>
      </p:sp>
      <p:sp>
        <p:nvSpPr>
          <p:cNvPr id="859" name="Google Shape;859;g3aca3b402e2_0_81"/>
          <p:cNvSpPr txBox="1"/>
          <p:nvPr/>
        </p:nvSpPr>
        <p:spPr>
          <a:xfrm>
            <a:off x="640080" y="2798064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pie(table(x))</a:t>
            </a:r>
            <a:endParaRPr/>
          </a:p>
        </p:txBody>
      </p:sp>
      <p:sp>
        <p:nvSpPr>
          <p:cNvPr id="860" name="Google Shape;860;g3aca3b402e2_0_81"/>
          <p:cNvSpPr txBox="1"/>
          <p:nvPr/>
        </p:nvSpPr>
        <p:spPr>
          <a:xfrm>
            <a:off x="3017520" y="2798064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Torta</a:t>
            </a:r>
            <a:endParaRPr/>
          </a:p>
        </p:txBody>
      </p:sp>
      <p:sp>
        <p:nvSpPr>
          <p:cNvPr id="861" name="Google Shape;861;g3aca3b402e2_0_81"/>
          <p:cNvSpPr txBox="1"/>
          <p:nvPr/>
        </p:nvSpPr>
        <p:spPr>
          <a:xfrm>
            <a:off x="5669280" y="2798064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Qualitative</a:t>
            </a:r>
            <a:endParaRPr/>
          </a:p>
        </p:txBody>
      </p:sp>
      <p:sp>
        <p:nvSpPr>
          <p:cNvPr id="862" name="Google Shape;862;g3aca3b402e2_0_81"/>
          <p:cNvSpPr txBox="1"/>
          <p:nvPr/>
        </p:nvSpPr>
        <p:spPr>
          <a:xfrm>
            <a:off x="640080" y="3273552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boxplot(x)</a:t>
            </a:r>
            <a:endParaRPr/>
          </a:p>
        </p:txBody>
      </p:sp>
      <p:sp>
        <p:nvSpPr>
          <p:cNvPr id="863" name="Google Shape;863;g3aca3b402e2_0_81"/>
          <p:cNvSpPr txBox="1"/>
          <p:nvPr/>
        </p:nvSpPr>
        <p:spPr>
          <a:xfrm>
            <a:off x="3017520" y="3273552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</a:t>
            </a:r>
            <a:endParaRPr/>
          </a:p>
        </p:txBody>
      </p:sp>
      <p:sp>
        <p:nvSpPr>
          <p:cNvPr id="864" name="Google Shape;864;g3aca3b402e2_0_81"/>
          <p:cNvSpPr txBox="1"/>
          <p:nvPr/>
        </p:nvSpPr>
        <p:spPr>
          <a:xfrm>
            <a:off x="5669280" y="3273552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Quantitative</a:t>
            </a:r>
            <a:endParaRPr/>
          </a:p>
        </p:txBody>
      </p:sp>
      <p:sp>
        <p:nvSpPr>
          <p:cNvPr id="865" name="Google Shape;865;g3aca3b402e2_0_81"/>
          <p:cNvSpPr txBox="1"/>
          <p:nvPr/>
        </p:nvSpPr>
        <p:spPr>
          <a:xfrm>
            <a:off x="640080" y="3749039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plot(density(x))</a:t>
            </a:r>
            <a:endParaRPr/>
          </a:p>
        </p:txBody>
      </p:sp>
      <p:sp>
        <p:nvSpPr>
          <p:cNvPr id="866" name="Google Shape;866;g3aca3b402e2_0_81"/>
          <p:cNvSpPr txBox="1"/>
          <p:nvPr/>
        </p:nvSpPr>
        <p:spPr>
          <a:xfrm>
            <a:off x="3017520" y="3749039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Densità</a:t>
            </a:r>
            <a:endParaRPr/>
          </a:p>
        </p:txBody>
      </p:sp>
      <p:sp>
        <p:nvSpPr>
          <p:cNvPr id="867" name="Google Shape;867;g3aca3b402e2_0_81"/>
          <p:cNvSpPr txBox="1"/>
          <p:nvPr/>
        </p:nvSpPr>
        <p:spPr>
          <a:xfrm>
            <a:off x="5669280" y="3749039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Quant. continue</a:t>
            </a:r>
            <a:endParaRPr/>
          </a:p>
        </p:txBody>
      </p:sp>
      <p:sp>
        <p:nvSpPr>
          <p:cNvPr id="868" name="Google Shape;868;g3aca3b402e2_0_81"/>
          <p:cNvSpPr txBox="1"/>
          <p:nvPr/>
        </p:nvSpPr>
        <p:spPr>
          <a:xfrm>
            <a:off x="640080" y="4224527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lines(...)</a:t>
            </a:r>
            <a:endParaRPr/>
          </a:p>
        </p:txBody>
      </p:sp>
      <p:sp>
        <p:nvSpPr>
          <p:cNvPr id="869" name="Google Shape;869;g3aca3b402e2_0_81"/>
          <p:cNvSpPr txBox="1"/>
          <p:nvPr/>
        </p:nvSpPr>
        <p:spPr>
          <a:xfrm>
            <a:off x="3017520" y="4224527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Linee</a:t>
            </a:r>
            <a:endParaRPr/>
          </a:p>
        </p:txBody>
      </p:sp>
      <p:sp>
        <p:nvSpPr>
          <p:cNvPr id="870" name="Google Shape;870;g3aca3b402e2_0_81"/>
          <p:cNvSpPr txBox="1"/>
          <p:nvPr/>
        </p:nvSpPr>
        <p:spPr>
          <a:xfrm>
            <a:off x="5669280" y="4224527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Overlay</a:t>
            </a:r>
            <a:endParaRPr/>
          </a:p>
        </p:txBody>
      </p:sp>
      <p:sp>
        <p:nvSpPr>
          <p:cNvPr id="871" name="Google Shape;871;g3aca3b402e2_0_81"/>
          <p:cNvSpPr txBox="1"/>
          <p:nvPr/>
        </p:nvSpPr>
        <p:spPr>
          <a:xfrm>
            <a:off x="640080" y="4700015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points(...)</a:t>
            </a:r>
            <a:endParaRPr/>
          </a:p>
        </p:txBody>
      </p:sp>
      <p:sp>
        <p:nvSpPr>
          <p:cNvPr id="872" name="Google Shape;872;g3aca3b402e2_0_81"/>
          <p:cNvSpPr txBox="1"/>
          <p:nvPr/>
        </p:nvSpPr>
        <p:spPr>
          <a:xfrm>
            <a:off x="3017520" y="4700015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Punti</a:t>
            </a:r>
            <a:endParaRPr/>
          </a:p>
        </p:txBody>
      </p:sp>
      <p:sp>
        <p:nvSpPr>
          <p:cNvPr id="873" name="Google Shape;873;g3aca3b402e2_0_81"/>
          <p:cNvSpPr txBox="1"/>
          <p:nvPr/>
        </p:nvSpPr>
        <p:spPr>
          <a:xfrm>
            <a:off x="5669280" y="4700015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Overlay</a:t>
            </a:r>
            <a:endParaRPr/>
          </a:p>
        </p:txBody>
      </p:sp>
      <p:sp>
        <p:nvSpPr>
          <p:cNvPr id="874" name="Google Shape;874;g3aca3b402e2_0_81"/>
          <p:cNvSpPr txBox="1"/>
          <p:nvPr/>
        </p:nvSpPr>
        <p:spPr>
          <a:xfrm>
            <a:off x="640080" y="5486400"/>
            <a:ext cx="7863900" cy="276900"/>
          </a:xfrm>
          <a:prstGeom prst="rect">
            <a:avLst/>
          </a:prstGeom>
          <a:solidFill>
            <a:srgbClr val="FFFAE6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SEMPRE personalizzare con parametri: col, main, xlab, ylab, lwd, pch, cex...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acb3b54fab_0_0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7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acb3b54fab_0_10"/>
          <p:cNvSpPr txBox="1"/>
          <p:nvPr/>
        </p:nvSpPr>
        <p:spPr>
          <a:xfrm>
            <a:off x="457200" y="2103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Grafici Bivariati e Opzioni Generali</a:t>
            </a:r>
            <a:endParaRPr/>
          </a:p>
        </p:txBody>
      </p:sp>
      <p:sp>
        <p:nvSpPr>
          <p:cNvPr id="885" name="Google Shape;885;g3acb3b54fab_0_10"/>
          <p:cNvSpPr txBox="1"/>
          <p:nvPr/>
        </p:nvSpPr>
        <p:spPr>
          <a:xfrm>
            <a:off x="2286000" y="3017520"/>
            <a:ext cx="45720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Grafici Bivariati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🎨 Personalizzazione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⚙️ Opzioni Globali</a:t>
            </a:r>
            <a:endParaRPr/>
          </a:p>
        </p:txBody>
      </p:sp>
      <p:sp>
        <p:nvSpPr>
          <p:cNvPr id="886" name="Google Shape;886;g3acb3b54fab_0_10"/>
          <p:cNvSpPr txBox="1"/>
          <p:nvPr/>
        </p:nvSpPr>
        <p:spPr>
          <a:xfrm>
            <a:off x="3921875" y="723550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8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cb3b54fab_0_15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Boxplot Condizionato</a:t>
            </a:r>
            <a:endParaRPr/>
          </a:p>
        </p:txBody>
      </p:sp>
      <p:sp>
        <p:nvSpPr>
          <p:cNvPr id="892" name="Google Shape;892;g3acb3b54fab_0_15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variabile quantitativa confrontata per modalità di una qualitativa</a:t>
            </a:r>
            <a:endParaRPr/>
          </a:p>
        </p:txBody>
      </p:sp>
      <p:sp>
        <p:nvSpPr>
          <p:cNvPr id="893" name="Google Shape;893;g3acb3b54fab_0_15"/>
          <p:cNvSpPr txBox="1"/>
          <p:nvPr/>
        </p:nvSpPr>
        <p:spPr>
          <a:xfrm>
            <a:off x="640080" y="1691640"/>
            <a:ext cx="5029200" cy="3119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Due sintassi equivalenti: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Sintassi 1: con tilde (~)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reddito &lt;- c(25,30,45,28,35,40,32,29)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c('M','F','M','F','M','F','M','F')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boxplot(reddito ~ genere)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Sintassi 2: con split()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boxplot(split(reddito, genere))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Personalizzato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boxplot(reddito ~ genere,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main = 'Reddito per Genere',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xlab = 'Genere',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ylab = 'Reddito (k€)',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col = c('pink', 'lightblue'),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names = c('Femmine', 'Maschi'))</a:t>
            </a:r>
            <a:endParaRPr/>
          </a:p>
        </p:txBody>
      </p:sp>
      <p:sp>
        <p:nvSpPr>
          <p:cNvPr id="894" name="Google Shape;894;g3acb3b54fab_0_15"/>
          <p:cNvSpPr txBox="1"/>
          <p:nvPr/>
        </p:nvSpPr>
        <p:spPr>
          <a:xfrm>
            <a:off x="5943600" y="1691640"/>
            <a:ext cx="2560200" cy="600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[Boxplot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condizionato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M vs F]</a:t>
            </a:r>
            <a:endParaRPr/>
          </a:p>
        </p:txBody>
      </p:sp>
      <p:sp>
        <p:nvSpPr>
          <p:cNvPr id="895" name="Google Shape;895;g3acb3b54fab_0_15"/>
          <p:cNvSpPr txBox="1"/>
          <p:nvPr/>
        </p:nvSpPr>
        <p:spPr>
          <a:xfrm>
            <a:off x="640080" y="5303520"/>
            <a:ext cx="7863900" cy="2616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⌨️ Carattere ~ (tilde): Windows = Alt+126 (numerico) | Mac = Alt+5 | Linux = AltGr+ì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acb3b54fab_0_23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Grafico a Mosaico - Mosaicplot</a:t>
            </a:r>
            <a:endParaRPr/>
          </a:p>
        </p:txBody>
      </p:sp>
      <p:sp>
        <p:nvSpPr>
          <p:cNvPr id="901" name="Google Shape;901;g3acb3b54fab_0_23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due o più variabili qualitative - mostra frequenze e combinazioni</a:t>
            </a:r>
            <a:endParaRPr/>
          </a:p>
        </p:txBody>
      </p:sp>
      <p:sp>
        <p:nvSpPr>
          <p:cNvPr id="902" name="Google Shape;902;g3acb3b54fab_0_23"/>
          <p:cNvSpPr txBox="1"/>
          <p:nvPr/>
        </p:nvSpPr>
        <p:spPr>
          <a:xfrm>
            <a:off x="640080" y="1691640"/>
            <a:ext cx="5029200" cy="2940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Dati esempio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tipo &lt;- c('Nuovo','Nuovo','Fedele',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    'Fedele','Nuovo','Fedele')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genere &lt;- c('M','F','M','F','M','F')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Mosaico base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plot(table(tipo, genere))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colori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plot(table(tipo, genere),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col = c('pink', 'lightblue'),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main = 'Clienti per Tipo e Genere')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etichette orizzontali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plot(table(tipo, genere),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las = 1)  # las=1 orizzontali</a:t>
            </a:r>
            <a:endParaRPr/>
          </a:p>
        </p:txBody>
      </p:sp>
      <p:sp>
        <p:nvSpPr>
          <p:cNvPr id="903" name="Google Shape;903;g3acb3b54fab_0_23"/>
          <p:cNvSpPr txBox="1"/>
          <p:nvPr/>
        </p:nvSpPr>
        <p:spPr>
          <a:xfrm>
            <a:off x="5943600" y="1691640"/>
            <a:ext cx="2560200" cy="600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[Mosaicplot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aree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proporzionali]</a:t>
            </a:r>
            <a:endParaRPr/>
          </a:p>
        </p:txBody>
      </p:sp>
      <p:sp>
        <p:nvSpPr>
          <p:cNvPr id="904" name="Google Shape;904;g3acb3b54fab_0_23"/>
          <p:cNvSpPr txBox="1"/>
          <p:nvPr/>
        </p:nvSpPr>
        <p:spPr>
          <a:xfrm>
            <a:off x="640080" y="5029200"/>
            <a:ext cx="7863900" cy="2616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Aree più grandi = combinazioni più frequenti. Utile per vedere associazioni tra variabili.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cb3b54fab_0_3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Opzioni Globali - par()</a:t>
            </a:r>
            <a:endParaRPr/>
          </a:p>
        </p:txBody>
      </p:sp>
      <p:sp>
        <p:nvSpPr>
          <p:cNvPr id="910" name="Google Shape;910;g3acb3b54fab_0_31"/>
          <p:cNvSpPr txBox="1"/>
          <p:nvPr/>
        </p:nvSpPr>
        <p:spPr>
          <a:xfrm>
            <a:off x="640080" y="10972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par() imposta opzioni grafiche GLOBALI valide per tutti i grafici successivi</a:t>
            </a:r>
            <a:endParaRPr/>
          </a:p>
        </p:txBody>
      </p:sp>
      <p:sp>
        <p:nvSpPr>
          <p:cNvPr id="911" name="Google Shape;911;g3acb3b54fab_0_31"/>
          <p:cNvSpPr txBox="1"/>
          <p:nvPr/>
        </p:nvSpPr>
        <p:spPr>
          <a:xfrm>
            <a:off x="640080" y="1828800"/>
            <a:ext cx="5029200" cy="3299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Cambiare sfondo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par(bg = 'green')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plot(genere)  # Sfondo verde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Modificare dimensione testo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par(cex = 0.8)  # Riduce del 20%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plot(genere)    # Testo più piccolo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Dividere finestra in grafici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par(mfrow = c(2, 1))  # 2 righe, 1 col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plot(tipo)             # Grafico alto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plot(genere)           # Grafico basso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Combinare parametri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par(mfrow = c(2,2), bg = 'lightgray',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cex = 0.9)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plot(x1); plot(x2)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plot(x3); plot(x4)</a:t>
            </a:r>
            <a:endParaRPr/>
          </a:p>
        </p:txBody>
      </p:sp>
      <p:sp>
        <p:nvSpPr>
          <p:cNvPr id="912" name="Google Shape;912;g3acb3b54fab_0_31"/>
          <p:cNvSpPr txBox="1"/>
          <p:nvPr/>
        </p:nvSpPr>
        <p:spPr>
          <a:xfrm>
            <a:off x="5943600" y="1828800"/>
            <a:ext cx="2560200" cy="2616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[Grafici 2x1]</a:t>
            </a:r>
            <a:endParaRPr/>
          </a:p>
        </p:txBody>
      </p:sp>
      <p:sp>
        <p:nvSpPr>
          <p:cNvPr id="913" name="Google Shape;913;g3acb3b54fab_0_31"/>
          <p:cNvSpPr txBox="1"/>
          <p:nvPr/>
        </p:nvSpPr>
        <p:spPr>
          <a:xfrm>
            <a:off x="5943600" y="3657600"/>
            <a:ext cx="2560200" cy="2616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[Grafici 2x2]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acb3b54fab_0_39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par() - Regole Importanti</a:t>
            </a:r>
            <a:endParaRPr/>
          </a:p>
        </p:txBody>
      </p:sp>
      <p:sp>
        <p:nvSpPr>
          <p:cNvPr id="919" name="Google Shape;919;g3acb3b54fab_0_39"/>
          <p:cNvSpPr txBox="1"/>
          <p:nvPr/>
        </p:nvSpPr>
        <p:spPr>
          <a:xfrm>
            <a:off x="640080" y="1188720"/>
            <a:ext cx="7863900" cy="17727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⚠️ REGOLA 1: par() va PRIMA del grafico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C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CORRETTO: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par(bg='green'); plot(dati)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 ERRATO: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plot(dati); par(bg='green')  # Non funziona!</a:t>
            </a:r>
            <a:endParaRPr/>
          </a:p>
        </p:txBody>
      </p:sp>
      <p:sp>
        <p:nvSpPr>
          <p:cNvPr id="920" name="Google Shape;920;g3acb3b54fab_0_39"/>
          <p:cNvSpPr txBox="1"/>
          <p:nvPr/>
        </p:nvSpPr>
        <p:spPr>
          <a:xfrm>
            <a:off x="640080" y="2743200"/>
            <a:ext cx="7863900" cy="167760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💡 REGOLA 2: I parametri PERSISTONO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 parametri par() rimangono attivi per TUTTI i grafici successivi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Finché non vengono modificati esplicitamente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 finché non si chiude RStudio/device grafico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resettare: par(mfrow=c(1,1), bg='white', cex=1)</a:t>
            </a:r>
            <a:endParaRPr/>
          </a:p>
        </p:txBody>
      </p:sp>
      <p:sp>
        <p:nvSpPr>
          <p:cNvPr id="921" name="Google Shape;921;g3acb3b54fab_0_39"/>
          <p:cNvSpPr txBox="1"/>
          <p:nvPr/>
        </p:nvSpPr>
        <p:spPr>
          <a:xfrm>
            <a:off x="640080" y="4389120"/>
            <a:ext cx="7863900" cy="1410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Esempio problema comune: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par(mfrow=c(2,2)); plot(x1); plot(x2); plot(x3); plot(x4)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Ora voglio 1 grafico grande...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plot(x5)  # ERRORE! Va in posizione 1 del 2x2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Soluzione: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par(mfrow=c(1,1))  # Reset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plot(x5)  # OK!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acb3b54fab_0_46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par() - Parametri Più Utili</a:t>
            </a:r>
            <a:endParaRPr/>
          </a:p>
        </p:txBody>
      </p:sp>
      <p:sp>
        <p:nvSpPr>
          <p:cNvPr id="927" name="Google Shape;927;g3acb3b54fab_0_46"/>
          <p:cNvSpPr txBox="1"/>
          <p:nvPr/>
        </p:nvSpPr>
        <p:spPr>
          <a:xfrm>
            <a:off x="640080" y="137160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mfrow</a:t>
            </a:r>
            <a:endParaRPr/>
          </a:p>
        </p:txBody>
      </p:sp>
      <p:sp>
        <p:nvSpPr>
          <p:cNvPr id="928" name="Google Shape;928;g3acb3b54fab_0_46"/>
          <p:cNvSpPr txBox="1"/>
          <p:nvPr/>
        </p:nvSpPr>
        <p:spPr>
          <a:xfrm>
            <a:off x="2377440" y="1371600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c(r, c)</a:t>
            </a:r>
            <a:endParaRPr/>
          </a:p>
        </p:txBody>
      </p:sp>
      <p:sp>
        <p:nvSpPr>
          <p:cNvPr id="929" name="Google Shape;929;g3acb3b54fab_0_46"/>
          <p:cNvSpPr txBox="1"/>
          <p:nvPr/>
        </p:nvSpPr>
        <p:spPr>
          <a:xfrm>
            <a:off x="4297680" y="1371600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Griglia grafici</a:t>
            </a:r>
            <a:endParaRPr/>
          </a:p>
        </p:txBody>
      </p:sp>
      <p:sp>
        <p:nvSpPr>
          <p:cNvPr id="930" name="Google Shape;930;g3acb3b54fab_0_46"/>
          <p:cNvSpPr txBox="1"/>
          <p:nvPr/>
        </p:nvSpPr>
        <p:spPr>
          <a:xfrm>
            <a:off x="640080" y="1901952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</a:t>
            </a:r>
            <a:endParaRPr/>
          </a:p>
        </p:txBody>
      </p:sp>
      <p:sp>
        <p:nvSpPr>
          <p:cNvPr id="931" name="Google Shape;931;g3acb3b54fab_0_46"/>
          <p:cNvSpPr txBox="1"/>
          <p:nvPr/>
        </p:nvSpPr>
        <p:spPr>
          <a:xfrm>
            <a:off x="2377440" y="1901952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'colore'</a:t>
            </a:r>
            <a:endParaRPr/>
          </a:p>
        </p:txBody>
      </p:sp>
      <p:sp>
        <p:nvSpPr>
          <p:cNvPr id="932" name="Google Shape;932;g3acb3b54fab_0_46"/>
          <p:cNvSpPr txBox="1"/>
          <p:nvPr/>
        </p:nvSpPr>
        <p:spPr>
          <a:xfrm>
            <a:off x="4297680" y="1901952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Sfondo</a:t>
            </a:r>
            <a:endParaRPr/>
          </a:p>
        </p:txBody>
      </p:sp>
      <p:sp>
        <p:nvSpPr>
          <p:cNvPr id="933" name="Google Shape;933;g3acb3b54fab_0_46"/>
          <p:cNvSpPr txBox="1"/>
          <p:nvPr/>
        </p:nvSpPr>
        <p:spPr>
          <a:xfrm>
            <a:off x="640080" y="2432304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cex</a:t>
            </a:r>
            <a:endParaRPr/>
          </a:p>
        </p:txBody>
      </p:sp>
      <p:sp>
        <p:nvSpPr>
          <p:cNvPr id="934" name="Google Shape;934;g3acb3b54fab_0_46"/>
          <p:cNvSpPr txBox="1"/>
          <p:nvPr/>
        </p:nvSpPr>
        <p:spPr>
          <a:xfrm>
            <a:off x="2377440" y="2432304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numero</a:t>
            </a:r>
            <a:endParaRPr/>
          </a:p>
        </p:txBody>
      </p:sp>
      <p:sp>
        <p:nvSpPr>
          <p:cNvPr id="935" name="Google Shape;935;g3acb3b54fab_0_46"/>
          <p:cNvSpPr txBox="1"/>
          <p:nvPr/>
        </p:nvSpPr>
        <p:spPr>
          <a:xfrm>
            <a:off x="4297680" y="2432304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 testo (1=norm)</a:t>
            </a:r>
            <a:endParaRPr/>
          </a:p>
        </p:txBody>
      </p:sp>
      <p:sp>
        <p:nvSpPr>
          <p:cNvPr id="936" name="Google Shape;936;g3acb3b54fab_0_46"/>
          <p:cNvSpPr txBox="1"/>
          <p:nvPr/>
        </p:nvSpPr>
        <p:spPr>
          <a:xfrm>
            <a:off x="640080" y="2962656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mar</a:t>
            </a:r>
            <a:endParaRPr/>
          </a:p>
        </p:txBody>
      </p:sp>
      <p:sp>
        <p:nvSpPr>
          <p:cNvPr id="937" name="Google Shape;937;g3acb3b54fab_0_46"/>
          <p:cNvSpPr txBox="1"/>
          <p:nvPr/>
        </p:nvSpPr>
        <p:spPr>
          <a:xfrm>
            <a:off x="2377440" y="2962656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c(b,l,t,r)</a:t>
            </a:r>
            <a:endParaRPr/>
          </a:p>
        </p:txBody>
      </p:sp>
      <p:sp>
        <p:nvSpPr>
          <p:cNvPr id="938" name="Google Shape;938;g3acb3b54fab_0_46"/>
          <p:cNvSpPr txBox="1"/>
          <p:nvPr/>
        </p:nvSpPr>
        <p:spPr>
          <a:xfrm>
            <a:off x="4297680" y="2962656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Margini</a:t>
            </a:r>
            <a:endParaRPr/>
          </a:p>
        </p:txBody>
      </p:sp>
      <p:sp>
        <p:nvSpPr>
          <p:cNvPr id="939" name="Google Shape;939;g3acb3b54fab_0_46"/>
          <p:cNvSpPr txBox="1"/>
          <p:nvPr/>
        </p:nvSpPr>
        <p:spPr>
          <a:xfrm>
            <a:off x="640080" y="3493008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las</a:t>
            </a:r>
            <a:endParaRPr/>
          </a:p>
        </p:txBody>
      </p:sp>
      <p:sp>
        <p:nvSpPr>
          <p:cNvPr id="940" name="Google Shape;940;g3acb3b54fab_0_46"/>
          <p:cNvSpPr txBox="1"/>
          <p:nvPr/>
        </p:nvSpPr>
        <p:spPr>
          <a:xfrm>
            <a:off x="2377440" y="3493008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0-3</a:t>
            </a:r>
            <a:endParaRPr/>
          </a:p>
        </p:txBody>
      </p:sp>
      <p:sp>
        <p:nvSpPr>
          <p:cNvPr id="941" name="Google Shape;941;g3acb3b54fab_0_46"/>
          <p:cNvSpPr txBox="1"/>
          <p:nvPr/>
        </p:nvSpPr>
        <p:spPr>
          <a:xfrm>
            <a:off x="4297680" y="3493008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Orient. etichette</a:t>
            </a:r>
            <a:endParaRPr/>
          </a:p>
        </p:txBody>
      </p:sp>
      <p:sp>
        <p:nvSpPr>
          <p:cNvPr id="942" name="Google Shape;942;g3acb3b54fab_0_46"/>
          <p:cNvSpPr txBox="1"/>
          <p:nvPr/>
        </p:nvSpPr>
        <p:spPr>
          <a:xfrm>
            <a:off x="640080" y="4023360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</a:t>
            </a:r>
            <a:endParaRPr/>
          </a:p>
        </p:txBody>
      </p:sp>
      <p:sp>
        <p:nvSpPr>
          <p:cNvPr id="943" name="Google Shape;943;g3acb3b54fab_0_46"/>
          <p:cNvSpPr txBox="1"/>
          <p:nvPr/>
        </p:nvSpPr>
        <p:spPr>
          <a:xfrm>
            <a:off x="2377440" y="4023360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'colore'</a:t>
            </a:r>
            <a:endParaRPr/>
          </a:p>
        </p:txBody>
      </p:sp>
      <p:sp>
        <p:nvSpPr>
          <p:cNvPr id="944" name="Google Shape;944;g3acb3b54fab_0_46"/>
          <p:cNvSpPr txBox="1"/>
          <p:nvPr/>
        </p:nvSpPr>
        <p:spPr>
          <a:xfrm>
            <a:off x="4297680" y="4023360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Colore default</a:t>
            </a:r>
            <a:endParaRPr/>
          </a:p>
        </p:txBody>
      </p:sp>
      <p:sp>
        <p:nvSpPr>
          <p:cNvPr id="945" name="Google Shape;945;g3acb3b54fab_0_46"/>
          <p:cNvSpPr txBox="1"/>
          <p:nvPr/>
        </p:nvSpPr>
        <p:spPr>
          <a:xfrm>
            <a:off x="640080" y="4553712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pch</a:t>
            </a:r>
            <a:endParaRPr/>
          </a:p>
        </p:txBody>
      </p:sp>
      <p:sp>
        <p:nvSpPr>
          <p:cNvPr id="946" name="Google Shape;946;g3acb3b54fab_0_46"/>
          <p:cNvSpPr txBox="1"/>
          <p:nvPr/>
        </p:nvSpPr>
        <p:spPr>
          <a:xfrm>
            <a:off x="2377440" y="4553712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1-25</a:t>
            </a:r>
            <a:endParaRPr/>
          </a:p>
        </p:txBody>
      </p:sp>
      <p:sp>
        <p:nvSpPr>
          <p:cNvPr id="947" name="Google Shape;947;g3acb3b54fab_0_46"/>
          <p:cNvSpPr txBox="1"/>
          <p:nvPr/>
        </p:nvSpPr>
        <p:spPr>
          <a:xfrm>
            <a:off x="4297680" y="4553712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punto</a:t>
            </a:r>
            <a:endParaRPr/>
          </a:p>
        </p:txBody>
      </p:sp>
      <p:sp>
        <p:nvSpPr>
          <p:cNvPr id="948" name="Google Shape;948;g3acb3b54fab_0_46"/>
          <p:cNvSpPr txBox="1"/>
          <p:nvPr/>
        </p:nvSpPr>
        <p:spPr>
          <a:xfrm>
            <a:off x="640080" y="5084064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lty</a:t>
            </a:r>
            <a:endParaRPr/>
          </a:p>
        </p:txBody>
      </p:sp>
      <p:sp>
        <p:nvSpPr>
          <p:cNvPr id="949" name="Google Shape;949;g3acb3b54fab_0_46"/>
          <p:cNvSpPr txBox="1"/>
          <p:nvPr/>
        </p:nvSpPr>
        <p:spPr>
          <a:xfrm>
            <a:off x="2377440" y="5084064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1-6</a:t>
            </a:r>
            <a:endParaRPr/>
          </a:p>
        </p:txBody>
      </p:sp>
      <p:sp>
        <p:nvSpPr>
          <p:cNvPr id="950" name="Google Shape;950;g3acb3b54fab_0_46"/>
          <p:cNvSpPr txBox="1"/>
          <p:nvPr/>
        </p:nvSpPr>
        <p:spPr>
          <a:xfrm>
            <a:off x="4297680" y="5084064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linea</a:t>
            </a:r>
            <a:endParaRPr/>
          </a:p>
        </p:txBody>
      </p:sp>
      <p:sp>
        <p:nvSpPr>
          <p:cNvPr id="951" name="Google Shape;951;g3acb3b54fab_0_46"/>
          <p:cNvSpPr txBox="1"/>
          <p:nvPr/>
        </p:nvSpPr>
        <p:spPr>
          <a:xfrm>
            <a:off x="640080" y="5614416"/>
            <a:ext cx="16458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lwd</a:t>
            </a:r>
            <a:endParaRPr/>
          </a:p>
        </p:txBody>
      </p:sp>
      <p:sp>
        <p:nvSpPr>
          <p:cNvPr id="952" name="Google Shape;952;g3acb3b54fab_0_46"/>
          <p:cNvSpPr txBox="1"/>
          <p:nvPr/>
        </p:nvSpPr>
        <p:spPr>
          <a:xfrm>
            <a:off x="2377440" y="5614416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endParaRPr/>
          </a:p>
        </p:txBody>
      </p:sp>
      <p:sp>
        <p:nvSpPr>
          <p:cNvPr id="953" name="Google Shape;953;g3acb3b54fab_0_46"/>
          <p:cNvSpPr txBox="1"/>
          <p:nvPr/>
        </p:nvSpPr>
        <p:spPr>
          <a:xfrm>
            <a:off x="4297680" y="5614416"/>
            <a:ext cx="420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Spessore</a:t>
            </a:r>
            <a:endParaRPr/>
          </a:p>
        </p:txBody>
      </p:sp>
      <p:sp>
        <p:nvSpPr>
          <p:cNvPr id="954" name="Google Shape;954;g3acb3b54fab_0_46"/>
          <p:cNvSpPr txBox="1"/>
          <p:nvPr/>
        </p:nvSpPr>
        <p:spPr>
          <a:xfrm>
            <a:off x="640080" y="5943600"/>
            <a:ext cx="7863900" cy="276900"/>
          </a:xfrm>
          <a:prstGeom prst="rect">
            <a:avLst/>
          </a:prstGeom>
          <a:solidFill>
            <a:srgbClr val="FFFAE6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📖 Lista completa: ?par  |  Ci sono MOLTI altri parametri avanzati!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acb3b54fab_0_78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Aggiungere Titoli - main e sub</a:t>
            </a:r>
            <a:endParaRPr/>
          </a:p>
        </p:txBody>
      </p:sp>
      <p:sp>
        <p:nvSpPr>
          <p:cNvPr id="960" name="Google Shape;960;g3acb3b54fab_0_78"/>
          <p:cNvSpPr txBox="1"/>
          <p:nvPr/>
        </p:nvSpPr>
        <p:spPr>
          <a:xfrm>
            <a:off x="640080" y="1097280"/>
            <a:ext cx="5029200" cy="3119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Metodo 1: Durante creazione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hist(reddito,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main = 'Distribuzione Reddito',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sub = 'Campione 2024',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xlab = 'Reddito (k€)',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ylab = 'Frequenza')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Metodo 2: Con title() dopo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plot(genere)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title(main = 'Distribuzione Genere',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sub = 'N = 100 osservazioni')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Personalizzazione avanzata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title(main = 'Titolo',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col.main = 'blue',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cex.main = 1.5,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 font.main = 2)</a:t>
            </a:r>
            <a:endParaRPr/>
          </a:p>
        </p:txBody>
      </p:sp>
      <p:sp>
        <p:nvSpPr>
          <p:cNvPr id="961" name="Google Shape;961;g3acb3b54fab_0_78"/>
          <p:cNvSpPr txBox="1"/>
          <p:nvPr/>
        </p:nvSpPr>
        <p:spPr>
          <a:xfrm>
            <a:off x="5943600" y="1097280"/>
            <a:ext cx="2560200" cy="4308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[Grafico con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titolo]</a:t>
            </a:r>
            <a:endParaRPr/>
          </a:p>
        </p:txBody>
      </p:sp>
      <p:sp>
        <p:nvSpPr>
          <p:cNvPr id="962" name="Google Shape;962;g3acb3b54fab_0_78"/>
          <p:cNvSpPr txBox="1"/>
          <p:nvPr/>
        </p:nvSpPr>
        <p:spPr>
          <a:xfrm>
            <a:off x="5943600" y="3108960"/>
            <a:ext cx="2560200" cy="4308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[Titolo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personalizzato]</a:t>
            </a:r>
            <a:endParaRPr/>
          </a:p>
        </p:txBody>
      </p:sp>
      <p:sp>
        <p:nvSpPr>
          <p:cNvPr id="963" name="Google Shape;963;g3acb3b54fab_0_78"/>
          <p:cNvSpPr txBox="1"/>
          <p:nvPr/>
        </p:nvSpPr>
        <p:spPr>
          <a:xfrm>
            <a:off x="640080" y="4937760"/>
            <a:ext cx="7863900" cy="2616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title() utile per aggiungere/modificare titoli DOPO la creazione del grafico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acb3b54fab_0_86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Personalizzare Linee e Punti</a:t>
            </a:r>
            <a:endParaRPr/>
          </a:p>
        </p:txBody>
      </p:sp>
      <p:sp>
        <p:nvSpPr>
          <p:cNvPr id="969" name="Google Shape;969;g3acb3b54fab_0_86"/>
          <p:cNvSpPr txBox="1"/>
          <p:nvPr/>
        </p:nvSpPr>
        <p:spPr>
          <a:xfrm>
            <a:off x="640080" y="1097280"/>
            <a:ext cx="5029200" cy="3299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lty: Line TYpe (tipo linea)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plot(density(x), lty = 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1=solida, 2=tratteggiata, 3=punteggiata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4=punto-linea, 5=lunga, 6=doppia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pch: Point CHaracter (tipo punto)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plot(x, y, pch = 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1=cerchio, 2=triangolo, 16=pieno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17=triangolo pieno, 19=cerchio pieno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lwd: Line WiDth (spessore)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plot(density(x), lty = 2, lwd = 3)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1=normale, 2=doppio, 3=triplo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Combinati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plot(x, y, type = 'b',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pch = 19, lty = 1, lwd = 2,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 col = 'blue')</a:t>
            </a:r>
            <a:endParaRPr/>
          </a:p>
        </p:txBody>
      </p:sp>
      <p:sp>
        <p:nvSpPr>
          <p:cNvPr id="970" name="Google Shape;970;g3acb3b54fab_0_86"/>
          <p:cNvSpPr txBox="1"/>
          <p:nvPr/>
        </p:nvSpPr>
        <p:spPr>
          <a:xfrm>
            <a:off x="5943600" y="1097280"/>
            <a:ext cx="2560200" cy="4308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[Esempi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linee e punti]</a:t>
            </a:r>
            <a:endParaRPr/>
          </a:p>
        </p:txBody>
      </p:sp>
      <p:sp>
        <p:nvSpPr>
          <p:cNvPr id="971" name="Google Shape;971;g3acb3b54fab_0_86"/>
          <p:cNvSpPr txBox="1"/>
          <p:nvPr/>
        </p:nvSpPr>
        <p:spPr>
          <a:xfrm>
            <a:off x="640080" y="5120640"/>
            <a:ext cx="7863900" cy="2769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🎨 lty (1-6 linee) | pch (1-25 punti) | lwd (spessore) | type ('p','l','b')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acb3b54fab_0_93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Gestione Colori</a:t>
            </a:r>
            <a:endParaRPr/>
          </a:p>
        </p:txBody>
      </p:sp>
      <p:sp>
        <p:nvSpPr>
          <p:cNvPr id="977" name="Google Shape;977;g3acb3b54fab_0_93"/>
          <p:cNvSpPr txBox="1"/>
          <p:nvPr/>
        </p:nvSpPr>
        <p:spPr>
          <a:xfrm>
            <a:off x="640080" y="1097280"/>
            <a:ext cx="5029200" cy="3478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Metodo 1: rainbow() - Arcobaleno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pie(table(genere), col = rainbow(2))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Genera automaticamente N colori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Numero dinamico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n &lt;- length(levels(genere))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pie(table(genere), col = rainbow(n))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Metodo 2: Selezione manuale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pie(table(genere),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+     col = c('pink', 'lightblue'))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Lista completa colori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colors()  # 650+ nomi!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Altre palette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heat.colors(5)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terrain.colors(5)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&gt; topo.colors(5)</a:t>
            </a:r>
            <a:endParaRPr/>
          </a:p>
        </p:txBody>
      </p:sp>
      <p:sp>
        <p:nvSpPr>
          <p:cNvPr id="978" name="Google Shape;978;g3acb3b54fab_0_93"/>
          <p:cNvSpPr txBox="1"/>
          <p:nvPr/>
        </p:nvSpPr>
        <p:spPr>
          <a:xfrm>
            <a:off x="5943600" y="1097280"/>
            <a:ext cx="2560200" cy="4308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[Pie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rainbow]</a:t>
            </a:r>
            <a:endParaRPr/>
          </a:p>
        </p:txBody>
      </p:sp>
      <p:sp>
        <p:nvSpPr>
          <p:cNvPr id="979" name="Google Shape;979;g3acb3b54fab_0_93"/>
          <p:cNvSpPr txBox="1"/>
          <p:nvPr/>
        </p:nvSpPr>
        <p:spPr>
          <a:xfrm>
            <a:off x="5943600" y="3200400"/>
            <a:ext cx="2560200" cy="4308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[Palette</a:t>
            </a:r>
            <a:b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colori]</a:t>
            </a:r>
            <a:endParaRPr/>
          </a:p>
        </p:txBody>
      </p:sp>
      <p:sp>
        <p:nvSpPr>
          <p:cNvPr id="980" name="Google Shape;980;g3acb3b54fab_0_93"/>
          <p:cNvSpPr txBox="1"/>
          <p:nvPr/>
        </p:nvSpPr>
        <p:spPr>
          <a:xfrm>
            <a:off x="640080" y="5120640"/>
            <a:ext cx="7863900" cy="2616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Colori anche come HEX: '#FF5733'  o  RGB: rgb(255, 87, 51, maxColorValue=255)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acb3b54fab_0_101"/>
          <p:cNvSpPr txBox="1"/>
          <p:nvPr/>
        </p:nvSpPr>
        <p:spPr>
          <a:xfrm>
            <a:off x="457200" y="36576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Riepilogo</a:t>
            </a:r>
            <a:endParaRPr/>
          </a:p>
        </p:txBody>
      </p:sp>
      <p:sp>
        <p:nvSpPr>
          <p:cNvPr id="986" name="Google Shape;986;g3acb3b54fab_0_101"/>
          <p:cNvSpPr txBox="1"/>
          <p:nvPr/>
        </p:nvSpPr>
        <p:spPr>
          <a:xfrm>
            <a:off x="640080" y="1371600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boxplot(y~x)</a:t>
            </a:r>
            <a:endParaRPr/>
          </a:p>
        </p:txBody>
      </p:sp>
      <p:sp>
        <p:nvSpPr>
          <p:cNvPr id="987" name="Google Shape;987;g3acb3b54fab_0_101"/>
          <p:cNvSpPr txBox="1"/>
          <p:nvPr/>
        </p:nvSpPr>
        <p:spPr>
          <a:xfrm>
            <a:off x="3017520" y="1371600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Boxplot condiz.</a:t>
            </a:r>
            <a:endParaRPr/>
          </a:p>
        </p:txBody>
      </p:sp>
      <p:sp>
        <p:nvSpPr>
          <p:cNvPr id="988" name="Google Shape;988;g3acb3b54fab_0_101"/>
          <p:cNvSpPr txBox="1"/>
          <p:nvPr/>
        </p:nvSpPr>
        <p:spPr>
          <a:xfrm>
            <a:off x="5669280" y="1371600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 vs Qual</a:t>
            </a:r>
            <a:endParaRPr/>
          </a:p>
        </p:txBody>
      </p:sp>
      <p:sp>
        <p:nvSpPr>
          <p:cNvPr id="989" name="Google Shape;989;g3acb3b54fab_0_101"/>
          <p:cNvSpPr txBox="1"/>
          <p:nvPr/>
        </p:nvSpPr>
        <p:spPr>
          <a:xfrm>
            <a:off x="640080" y="1847088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plot(table(x,y))</a:t>
            </a:r>
            <a:endParaRPr/>
          </a:p>
        </p:txBody>
      </p:sp>
      <p:sp>
        <p:nvSpPr>
          <p:cNvPr id="990" name="Google Shape;990;g3acb3b54fab_0_101"/>
          <p:cNvSpPr txBox="1"/>
          <p:nvPr/>
        </p:nvSpPr>
        <p:spPr>
          <a:xfrm>
            <a:off x="3017520" y="1847088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Mosaicplot</a:t>
            </a:r>
            <a:endParaRPr/>
          </a:p>
        </p:txBody>
      </p:sp>
      <p:sp>
        <p:nvSpPr>
          <p:cNvPr id="991" name="Google Shape;991;g3acb3b54fab_0_101"/>
          <p:cNvSpPr txBox="1"/>
          <p:nvPr/>
        </p:nvSpPr>
        <p:spPr>
          <a:xfrm>
            <a:off x="5669280" y="1847088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vs Qual</a:t>
            </a:r>
            <a:endParaRPr/>
          </a:p>
        </p:txBody>
      </p:sp>
      <p:sp>
        <p:nvSpPr>
          <p:cNvPr id="992" name="Google Shape;992;g3acb3b54fab_0_101"/>
          <p:cNvSpPr txBox="1"/>
          <p:nvPr/>
        </p:nvSpPr>
        <p:spPr>
          <a:xfrm>
            <a:off x="640080" y="2322576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par(...)</a:t>
            </a:r>
            <a:endParaRPr/>
          </a:p>
        </p:txBody>
      </p:sp>
      <p:sp>
        <p:nvSpPr>
          <p:cNvPr id="993" name="Google Shape;993;g3acb3b54fab_0_101"/>
          <p:cNvSpPr txBox="1"/>
          <p:nvPr/>
        </p:nvSpPr>
        <p:spPr>
          <a:xfrm>
            <a:off x="3017520" y="2322576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Opzioni globali</a:t>
            </a:r>
            <a:endParaRPr/>
          </a:p>
        </p:txBody>
      </p:sp>
      <p:sp>
        <p:nvSpPr>
          <p:cNvPr id="994" name="Google Shape;994;g3acb3b54fab_0_101"/>
          <p:cNvSpPr txBox="1"/>
          <p:nvPr/>
        </p:nvSpPr>
        <p:spPr>
          <a:xfrm>
            <a:off x="5669280" y="2322576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Tutti grafici</a:t>
            </a:r>
            <a:endParaRPr/>
          </a:p>
        </p:txBody>
      </p:sp>
      <p:sp>
        <p:nvSpPr>
          <p:cNvPr id="995" name="Google Shape;995;g3acb3b54fab_0_101"/>
          <p:cNvSpPr txBox="1"/>
          <p:nvPr/>
        </p:nvSpPr>
        <p:spPr>
          <a:xfrm>
            <a:off x="640080" y="2798064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main, sub</a:t>
            </a:r>
            <a:endParaRPr/>
          </a:p>
        </p:txBody>
      </p:sp>
      <p:sp>
        <p:nvSpPr>
          <p:cNvPr id="996" name="Google Shape;996;g3acb3b54fab_0_101"/>
          <p:cNvSpPr txBox="1"/>
          <p:nvPr/>
        </p:nvSpPr>
        <p:spPr>
          <a:xfrm>
            <a:off x="3017520" y="2798064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Titoli</a:t>
            </a:r>
            <a:endParaRPr/>
          </a:p>
        </p:txBody>
      </p:sp>
      <p:sp>
        <p:nvSpPr>
          <p:cNvPr id="997" name="Google Shape;997;g3acb3b54fab_0_101"/>
          <p:cNvSpPr txBox="1"/>
          <p:nvPr/>
        </p:nvSpPr>
        <p:spPr>
          <a:xfrm>
            <a:off x="5669280" y="2798064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plot o title()</a:t>
            </a:r>
            <a:endParaRPr/>
          </a:p>
        </p:txBody>
      </p:sp>
      <p:sp>
        <p:nvSpPr>
          <p:cNvPr id="998" name="Google Shape;998;g3acb3b54fab_0_101"/>
          <p:cNvSpPr txBox="1"/>
          <p:nvPr/>
        </p:nvSpPr>
        <p:spPr>
          <a:xfrm>
            <a:off x="640080" y="3273552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lty</a:t>
            </a:r>
            <a:endParaRPr/>
          </a:p>
        </p:txBody>
      </p:sp>
      <p:sp>
        <p:nvSpPr>
          <p:cNvPr id="999" name="Google Shape;999;g3acb3b54fab_0_101"/>
          <p:cNvSpPr txBox="1"/>
          <p:nvPr/>
        </p:nvSpPr>
        <p:spPr>
          <a:xfrm>
            <a:off x="3017520" y="3273552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linea</a:t>
            </a:r>
            <a:endParaRPr/>
          </a:p>
        </p:txBody>
      </p:sp>
      <p:sp>
        <p:nvSpPr>
          <p:cNvPr id="1000" name="Google Shape;1000;g3acb3b54fab_0_101"/>
          <p:cNvSpPr txBox="1"/>
          <p:nvPr/>
        </p:nvSpPr>
        <p:spPr>
          <a:xfrm>
            <a:off x="5669280" y="3273552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1-6</a:t>
            </a:r>
            <a:endParaRPr/>
          </a:p>
        </p:txBody>
      </p:sp>
      <p:sp>
        <p:nvSpPr>
          <p:cNvPr id="1001" name="Google Shape;1001;g3acb3b54fab_0_101"/>
          <p:cNvSpPr txBox="1"/>
          <p:nvPr/>
        </p:nvSpPr>
        <p:spPr>
          <a:xfrm>
            <a:off x="640080" y="3749039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pch</a:t>
            </a:r>
            <a:endParaRPr/>
          </a:p>
        </p:txBody>
      </p:sp>
      <p:sp>
        <p:nvSpPr>
          <p:cNvPr id="1002" name="Google Shape;1002;g3acb3b54fab_0_101"/>
          <p:cNvSpPr txBox="1"/>
          <p:nvPr/>
        </p:nvSpPr>
        <p:spPr>
          <a:xfrm>
            <a:off x="3017520" y="3749039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punto</a:t>
            </a:r>
            <a:endParaRPr/>
          </a:p>
        </p:txBody>
      </p:sp>
      <p:sp>
        <p:nvSpPr>
          <p:cNvPr id="1003" name="Google Shape;1003;g3acb3b54fab_0_101"/>
          <p:cNvSpPr txBox="1"/>
          <p:nvPr/>
        </p:nvSpPr>
        <p:spPr>
          <a:xfrm>
            <a:off x="5669280" y="3749039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1-25</a:t>
            </a:r>
            <a:endParaRPr/>
          </a:p>
        </p:txBody>
      </p:sp>
      <p:sp>
        <p:nvSpPr>
          <p:cNvPr id="1004" name="Google Shape;1004;g3acb3b54fab_0_101"/>
          <p:cNvSpPr txBox="1"/>
          <p:nvPr/>
        </p:nvSpPr>
        <p:spPr>
          <a:xfrm>
            <a:off x="640080" y="4224527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lwd</a:t>
            </a:r>
            <a:endParaRPr/>
          </a:p>
        </p:txBody>
      </p:sp>
      <p:sp>
        <p:nvSpPr>
          <p:cNvPr id="1005" name="Google Shape;1005;g3acb3b54fab_0_101"/>
          <p:cNvSpPr txBox="1"/>
          <p:nvPr/>
        </p:nvSpPr>
        <p:spPr>
          <a:xfrm>
            <a:off x="3017520" y="4224527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Spessore</a:t>
            </a:r>
            <a:endParaRPr/>
          </a:p>
        </p:txBody>
      </p:sp>
      <p:sp>
        <p:nvSpPr>
          <p:cNvPr id="1006" name="Google Shape;1006;g3acb3b54fab_0_101"/>
          <p:cNvSpPr txBox="1"/>
          <p:nvPr/>
        </p:nvSpPr>
        <p:spPr>
          <a:xfrm>
            <a:off x="5669280" y="4224527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Numero</a:t>
            </a:r>
            <a:endParaRPr/>
          </a:p>
        </p:txBody>
      </p:sp>
      <p:sp>
        <p:nvSpPr>
          <p:cNvPr id="1007" name="Google Shape;1007;g3acb3b54fab_0_101"/>
          <p:cNvSpPr txBox="1"/>
          <p:nvPr/>
        </p:nvSpPr>
        <p:spPr>
          <a:xfrm>
            <a:off x="640080" y="4700015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</a:t>
            </a:r>
            <a:endParaRPr/>
          </a:p>
        </p:txBody>
      </p:sp>
      <p:sp>
        <p:nvSpPr>
          <p:cNvPr id="1008" name="Google Shape;1008;g3acb3b54fab_0_101"/>
          <p:cNvSpPr txBox="1"/>
          <p:nvPr/>
        </p:nvSpPr>
        <p:spPr>
          <a:xfrm>
            <a:off x="3017520" y="4700015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Colore</a:t>
            </a:r>
            <a:endParaRPr/>
          </a:p>
        </p:txBody>
      </p:sp>
      <p:sp>
        <p:nvSpPr>
          <p:cNvPr id="1009" name="Google Shape;1009;g3acb3b54fab_0_101"/>
          <p:cNvSpPr txBox="1"/>
          <p:nvPr/>
        </p:nvSpPr>
        <p:spPr>
          <a:xfrm>
            <a:off x="5669280" y="4700015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Nome/HEX</a:t>
            </a:r>
            <a:endParaRPr/>
          </a:p>
        </p:txBody>
      </p:sp>
      <p:sp>
        <p:nvSpPr>
          <p:cNvPr id="1010" name="Google Shape;1010;g3acb3b54fab_0_101"/>
          <p:cNvSpPr txBox="1"/>
          <p:nvPr/>
        </p:nvSpPr>
        <p:spPr>
          <a:xfrm>
            <a:off x="640080" y="5175503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rainbow(n)</a:t>
            </a:r>
            <a:endParaRPr/>
          </a:p>
        </p:txBody>
      </p:sp>
      <p:sp>
        <p:nvSpPr>
          <p:cNvPr id="1011" name="Google Shape;1011;g3acb3b54fab_0_101"/>
          <p:cNvSpPr txBox="1"/>
          <p:nvPr/>
        </p:nvSpPr>
        <p:spPr>
          <a:xfrm>
            <a:off x="3017520" y="5175503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colori</a:t>
            </a:r>
            <a:endParaRPr/>
          </a:p>
        </p:txBody>
      </p:sp>
      <p:sp>
        <p:nvSpPr>
          <p:cNvPr id="1012" name="Google Shape;1012;g3acb3b54fab_0_101"/>
          <p:cNvSpPr txBox="1"/>
          <p:nvPr/>
        </p:nvSpPr>
        <p:spPr>
          <a:xfrm>
            <a:off x="5669280" y="5175503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Automatico</a:t>
            </a:r>
            <a:endParaRPr/>
          </a:p>
        </p:txBody>
      </p:sp>
      <p:sp>
        <p:nvSpPr>
          <p:cNvPr id="1013" name="Google Shape;1013;g3acb3b54fab_0_101"/>
          <p:cNvSpPr txBox="1"/>
          <p:nvPr/>
        </p:nvSpPr>
        <p:spPr>
          <a:xfrm>
            <a:off x="640080" y="5650991"/>
            <a:ext cx="2286000" cy="2463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colors()</a:t>
            </a:r>
            <a:endParaRPr/>
          </a:p>
        </p:txBody>
      </p:sp>
      <p:sp>
        <p:nvSpPr>
          <p:cNvPr id="1014" name="Google Shape;1014;g3acb3b54fab_0_101"/>
          <p:cNvSpPr txBox="1"/>
          <p:nvPr/>
        </p:nvSpPr>
        <p:spPr>
          <a:xfrm>
            <a:off x="3017520" y="5650991"/>
            <a:ext cx="256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endParaRPr/>
          </a:p>
        </p:txBody>
      </p:sp>
      <p:sp>
        <p:nvSpPr>
          <p:cNvPr id="1015" name="Google Shape;1015;g3acb3b54fab_0_101"/>
          <p:cNvSpPr txBox="1"/>
          <p:nvPr/>
        </p:nvSpPr>
        <p:spPr>
          <a:xfrm>
            <a:off x="5669280" y="5650991"/>
            <a:ext cx="283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650+ nomi</a:t>
            </a:r>
            <a:endParaRPr/>
          </a:p>
        </p:txBody>
      </p:sp>
      <p:sp>
        <p:nvSpPr>
          <p:cNvPr id="1016" name="Google Shape;1016;g3acb3b54fab_0_101"/>
          <p:cNvSpPr txBox="1"/>
          <p:nvPr/>
        </p:nvSpPr>
        <p:spPr>
          <a:xfrm>
            <a:off x="640080" y="6126480"/>
            <a:ext cx="7863900" cy="276900"/>
          </a:xfrm>
          <a:prstGeom prst="rect">
            <a:avLst/>
          </a:prstGeom>
          <a:solidFill>
            <a:srgbClr val="FFFAE6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par() PRIMA grafico | Resettare mfrow dopo | Personalizzare sempre!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cb3b54fab_0_212"/>
          <p:cNvSpPr txBox="1"/>
          <p:nvPr/>
        </p:nvSpPr>
        <p:spPr>
          <a:xfrm>
            <a:off x="3298975" y="2844000"/>
            <a:ext cx="286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Fine blocco 8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ad078e7a43_0_29"/>
          <p:cNvSpPr txBox="1"/>
          <p:nvPr/>
        </p:nvSpPr>
        <p:spPr>
          <a:xfrm>
            <a:off x="457200" y="228600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ggplot2: Grammar of Graphics</a:t>
            </a:r>
            <a:endParaRPr/>
          </a:p>
        </p:txBody>
      </p:sp>
      <p:sp>
        <p:nvSpPr>
          <p:cNvPr id="1027" name="Google Shape;1027;g3ad078e7a43_0_29"/>
          <p:cNvSpPr txBox="1"/>
          <p:nvPr/>
        </p:nvSpPr>
        <p:spPr>
          <a:xfrm>
            <a:off x="2286000" y="3017520"/>
            <a:ext cx="457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Grafici avanzati in R</a:t>
            </a:r>
            <a:endParaRPr/>
          </a:p>
        </p:txBody>
      </p:sp>
      <p:sp>
        <p:nvSpPr>
          <p:cNvPr id="1028" name="Google Shape;1028;g3ad078e7a43_0_29"/>
          <p:cNvSpPr txBox="1"/>
          <p:nvPr/>
        </p:nvSpPr>
        <p:spPr>
          <a:xfrm>
            <a:off x="3921875" y="723550"/>
            <a:ext cx="1992300" cy="585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Blocco 9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d078e7a43_0_34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Introduzione a ggplot2</a:t>
            </a:r>
            <a:endParaRPr/>
          </a:p>
        </p:txBody>
      </p:sp>
      <p:sp>
        <p:nvSpPr>
          <p:cNvPr id="1034" name="Google Shape;1034;g3ad078e7a43_0_34"/>
          <p:cNvSpPr txBox="1"/>
          <p:nvPr/>
        </p:nvSpPr>
        <p:spPr>
          <a:xfrm>
            <a:off x="640080" y="118872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'gg' = Grammar of Graphics (Leland Wilkinson)</a:t>
            </a:r>
            <a:endParaRPr/>
          </a:p>
        </p:txBody>
      </p:sp>
      <p:sp>
        <p:nvSpPr>
          <p:cNvPr id="1035" name="Google Shape;1035;g3ad078e7a43_0_34"/>
          <p:cNvSpPr txBox="1"/>
          <p:nvPr/>
        </p:nvSpPr>
        <p:spPr>
          <a:xfrm>
            <a:off x="640080" y="160020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Teoria completa dei grafici</a:t>
            </a:r>
            <a:endParaRPr/>
          </a:p>
        </p:txBody>
      </p:sp>
      <p:sp>
        <p:nvSpPr>
          <p:cNvPr id="1036" name="Google Shape;1036;g3ad078e7a43_0_34"/>
          <p:cNvSpPr txBox="1"/>
          <p:nvPr/>
        </p:nvSpPr>
        <p:spPr>
          <a:xfrm>
            <a:off x="640080" y="20116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Implementazione di Hadley Wickham per R</a:t>
            </a:r>
            <a:endParaRPr/>
          </a:p>
        </p:txBody>
      </p:sp>
      <p:sp>
        <p:nvSpPr>
          <p:cNvPr id="1037" name="Google Shape;1037;g3ad078e7a43_0_34"/>
          <p:cNvSpPr txBox="1"/>
          <p:nvPr/>
        </p:nvSpPr>
        <p:spPr>
          <a:xfrm>
            <a:off x="640080" y="2423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Estremamente flessibile e potente</a:t>
            </a:r>
            <a:endParaRPr/>
          </a:p>
        </p:txBody>
      </p:sp>
      <p:sp>
        <p:nvSpPr>
          <p:cNvPr id="1038" name="Google Shape;1038;g3ad078e7a43_0_34"/>
          <p:cNvSpPr txBox="1"/>
          <p:nvPr/>
        </p:nvSpPr>
        <p:spPr>
          <a:xfrm>
            <a:off x="640080" y="283464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Due funzioni principali:</a:t>
            </a:r>
            <a:endParaRPr/>
          </a:p>
        </p:txBody>
      </p:sp>
      <p:sp>
        <p:nvSpPr>
          <p:cNvPr id="1039" name="Google Shape;1039;g3ad078e7a43_0_34"/>
          <p:cNvSpPr txBox="1"/>
          <p:nvPr/>
        </p:nvSpPr>
        <p:spPr>
          <a:xfrm>
            <a:off x="640080" y="3246120"/>
            <a:ext cx="786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qplot() / quickplot(): semplice, simile a plot()</a:t>
            </a:r>
            <a:endParaRPr/>
          </a:p>
        </p:txBody>
      </p:sp>
      <p:sp>
        <p:nvSpPr>
          <p:cNvPr id="1040" name="Google Shape;1040;g3ad078e7a43_0_34"/>
          <p:cNvSpPr txBox="1"/>
          <p:nvPr/>
        </p:nvSpPr>
        <p:spPr>
          <a:xfrm>
            <a:off x="640080" y="3657600"/>
            <a:ext cx="786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ggplot(): completa, usa la grammatica completa</a:t>
            </a:r>
            <a:endParaRPr/>
          </a:p>
        </p:txBody>
      </p:sp>
      <p:sp>
        <p:nvSpPr>
          <p:cNvPr id="1041" name="Google Shape;1041;g3ad078e7a43_0_34"/>
          <p:cNvSpPr txBox="1"/>
          <p:nvPr/>
        </p:nvSpPr>
        <p:spPr>
          <a:xfrm>
            <a:off x="640080" y="4389120"/>
            <a:ext cx="7863900" cy="13956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 Componenti fondamentali: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Aesthetics: ruoli delle variabili (x, y, color, size...)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Geoms: oggetti geometrici (barre, punti, linee...)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Statistics: funzioni statistiche (regressione...)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Scales: legende e scale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Facets: suddivisione per gruppi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bc4445f0a_0_340"/>
          <p:cNvSpPr txBox="1"/>
          <p:nvPr/>
        </p:nvSpPr>
        <p:spPr>
          <a:xfrm>
            <a:off x="640075" y="1783073"/>
            <a:ext cx="7863900" cy="33195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PRO: Grafici più accattivanti</a:t>
            </a: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PRO: Grandi risultati in poche righe di codice</a:t>
            </a: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b="1" lang="en-US" sz="23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CONTRO: Un po' più ostico all'inizio</a:t>
            </a: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rPr b="1"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http://r4stats.com/examples/graphics-ggplot2/</a:t>
            </a: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https://r4stats.com/books/downloads/</a:t>
            </a:r>
            <a:br>
              <a:rPr b="1" lang="en-US" sz="23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3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1051;g3abc4445f0a_0_3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674200"/>
            <a:ext cx="47244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g3abc4445f0a_0_3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0075" y="2580450"/>
            <a:ext cx="58578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ad078e7a43_0_12"/>
          <p:cNvSpPr txBox="1"/>
          <p:nvPr/>
        </p:nvSpPr>
        <p:spPr>
          <a:xfrm>
            <a:off x="1282798" y="1770425"/>
            <a:ext cx="657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...\</a:t>
            </a:r>
            <a:r>
              <a:rPr lang="en-US" sz="2000"/>
              <a:t>R-for-Stata_Users-Files-1st-Edition.zip\myRfolder</a:t>
            </a:r>
            <a:endParaRPr sz="2000"/>
          </a:p>
        </p:txBody>
      </p:sp>
      <p:sp>
        <p:nvSpPr>
          <p:cNvPr id="1058" name="Google Shape;1058;g3ad078e7a43_0_12"/>
          <p:cNvSpPr txBox="1"/>
          <p:nvPr/>
        </p:nvSpPr>
        <p:spPr>
          <a:xfrm>
            <a:off x="3370050" y="2921100"/>
            <a:ext cx="2403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mydata100.RData</a:t>
            </a:r>
            <a:endParaRPr sz="21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ad078e7a43_0_22"/>
          <p:cNvSpPr txBox="1"/>
          <p:nvPr/>
        </p:nvSpPr>
        <p:spPr>
          <a:xfrm>
            <a:off x="760950" y="1358175"/>
            <a:ext cx="7622100" cy="2514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setwd("WorkingDirectory") #Set yours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load(file="mydata100.Rdata")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detach(mydata100) #In case I'm running repeatedly.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Get rid of missing values for facets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mydata100 &lt;- na.omit(mydata100)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attach(mydata100) 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library(ggplot2)</a:t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ad078e7a43_0_46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Grafico a Barre Impilate</a:t>
            </a:r>
            <a:endParaRPr/>
          </a:p>
        </p:txBody>
      </p:sp>
      <p:sp>
        <p:nvSpPr>
          <p:cNvPr id="1069" name="Google Shape;1069;g3ad078e7a43_0_46"/>
          <p:cNvSpPr txBox="1"/>
          <p:nvPr/>
        </p:nvSpPr>
        <p:spPr>
          <a:xfrm>
            <a:off x="640080" y="1097280"/>
            <a:ext cx="3931800" cy="987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library(ggplot2)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aes(x = factor(''),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</a:t>
            </a:r>
            <a:endParaRPr/>
          </a:p>
        </p:txBody>
      </p:sp>
      <p:sp>
        <p:nvSpPr>
          <p:cNvPr id="1070" name="Google Shape;1070;g3ad078e7a43_0_46"/>
          <p:cNvSpPr txBox="1"/>
          <p:nvPr/>
        </p:nvSpPr>
        <p:spPr>
          <a:xfrm>
            <a:off x="4754880" y="1097280"/>
            <a:ext cx="37491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[GGbarStacked.png]</a:t>
            </a:r>
            <a:endParaRPr/>
          </a:p>
        </p:txBody>
      </p:sp>
      <p:sp>
        <p:nvSpPr>
          <p:cNvPr id="1071" name="Google Shape;1071;g3ad078e7a43_0_46"/>
          <p:cNvSpPr txBox="1"/>
          <p:nvPr/>
        </p:nvSpPr>
        <p:spPr>
          <a:xfrm>
            <a:off x="640080" y="2651760"/>
            <a:ext cx="3931800" cy="851700"/>
          </a:xfrm>
          <a:prstGeom prst="rect">
            <a:avLst/>
          </a:prstGeom>
          <a:solidFill>
            <a:srgbClr val="FFFAE6"/>
          </a:solidFill>
          <a:ln cap="flat" cmpd="sng" w="127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Nota: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x = factor('') crea asse x vuoto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fill = workshop colora per workshop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+ aggiunge layer geometrico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ad078e7a43_0_53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 Barre a Torta - coord_polar()</a:t>
            </a:r>
            <a:endParaRPr/>
          </a:p>
        </p:txBody>
      </p:sp>
      <p:sp>
        <p:nvSpPr>
          <p:cNvPr id="1077" name="Google Shape;1077;g3ad078e7a43_0_53"/>
          <p:cNvSpPr txBox="1"/>
          <p:nvPr/>
        </p:nvSpPr>
        <p:spPr>
          <a:xfrm>
            <a:off x="640080" y="1097280"/>
            <a:ext cx="4389000" cy="987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aes(x = factor(''),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coord_polar(theta = 'y')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scale_x_discrete('')</a:t>
            </a:r>
            <a:endParaRPr/>
          </a:p>
        </p:txBody>
      </p:sp>
      <p:sp>
        <p:nvSpPr>
          <p:cNvPr id="1078" name="Google Shape;1078;g3ad078e7a43_0_53"/>
          <p:cNvSpPr txBox="1"/>
          <p:nvPr/>
        </p:nvSpPr>
        <p:spPr>
          <a:xfrm>
            <a:off x="5212080" y="1097280"/>
            <a:ext cx="32919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[GGbarPie.png]</a:t>
            </a:r>
            <a:endParaRPr/>
          </a:p>
        </p:txBody>
      </p:sp>
      <p:sp>
        <p:nvSpPr>
          <p:cNvPr id="1079" name="Google Shape;1079;g3ad078e7a43_0_53"/>
          <p:cNvSpPr txBox="1"/>
          <p:nvPr/>
        </p:nvSpPr>
        <p:spPr>
          <a:xfrm>
            <a:off x="719830" y="5617430"/>
            <a:ext cx="7863900" cy="967200"/>
          </a:xfrm>
          <a:prstGeom prst="rect">
            <a:avLst/>
          </a:prstGeom>
          <a:solidFill>
            <a:srgbClr val="FFF0F0"/>
          </a:solidFill>
          <a:ln cap="flat" cmpd="sng" w="25400">
            <a:solidFill>
              <a:srgbClr val="C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80000"/>
                </a:solidFill>
                <a:latin typeface="Calibri"/>
                <a:ea typeface="Calibri"/>
                <a:cs typeface="Calibri"/>
                <a:sym typeface="Calibri"/>
              </a:rPr>
              <a:t>✨ La Magia di ggplot2: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 barre a torta: solo coord_polar(theta='y')!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Stesso grafico, coordinate diverse (Cartesiane → Polari)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Dimostra potenza Grammar of Graphics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ad078e7a43_0_60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Grafici a Barre - Sintassi Base</a:t>
            </a:r>
            <a:endParaRPr/>
          </a:p>
        </p:txBody>
      </p:sp>
      <p:sp>
        <p:nvSpPr>
          <p:cNvPr id="1085" name="Google Shape;1085;g3ad078e7a43_0_60"/>
          <p:cNvSpPr txBox="1"/>
          <p:nvPr/>
        </p:nvSpPr>
        <p:spPr>
          <a:xfrm>
            <a:off x="640080" y="1097280"/>
            <a:ext cx="4572000" cy="1895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Approccio 1: aes in geom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geom_bar(aes(workshop))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Approccio 2: aes in ggplot (preferito)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 aes(workshop))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Orizzontale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 aes(workshop))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coord_flip()</a:t>
            </a:r>
            <a:endParaRPr/>
          </a:p>
        </p:txBody>
      </p:sp>
      <p:sp>
        <p:nvSpPr>
          <p:cNvPr id="1086" name="Google Shape;1086;g3ad078e7a43_0_60"/>
          <p:cNvSpPr txBox="1"/>
          <p:nvPr/>
        </p:nvSpPr>
        <p:spPr>
          <a:xfrm>
            <a:off x="5486400" y="1097280"/>
            <a:ext cx="30174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[GGbarWorkshop.png]</a:t>
            </a:r>
            <a:endParaRPr/>
          </a:p>
        </p:txBody>
      </p:sp>
      <p:sp>
        <p:nvSpPr>
          <p:cNvPr id="1087" name="Google Shape;1087;g3ad078e7a43_0_60"/>
          <p:cNvSpPr txBox="1"/>
          <p:nvPr/>
        </p:nvSpPr>
        <p:spPr>
          <a:xfrm>
            <a:off x="5486400" y="2834640"/>
            <a:ext cx="30174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[GGbarFlipped.png]</a:t>
            </a:r>
            <a:endParaRPr/>
          </a:p>
        </p:txBody>
      </p:sp>
      <p:sp>
        <p:nvSpPr>
          <p:cNvPr id="1088" name="Google Shape;1088;g3ad078e7a43_0_60"/>
          <p:cNvSpPr txBox="1"/>
          <p:nvPr/>
        </p:nvSpPr>
        <p:spPr>
          <a:xfrm>
            <a:off x="640080" y="4480560"/>
            <a:ext cx="78639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Preferire aes() in ggplot(): si propaga a tutti i layer aggiunti successivamente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ad078e7a43_0_68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Barre Colorate e Raggruppate</a:t>
            </a:r>
            <a:endParaRPr/>
          </a:p>
        </p:txBody>
      </p:sp>
      <p:sp>
        <p:nvSpPr>
          <p:cNvPr id="1094" name="Google Shape;1094;g3ad078e7a43_0_68"/>
          <p:cNvSpPr txBox="1"/>
          <p:nvPr/>
        </p:nvSpPr>
        <p:spPr>
          <a:xfrm>
            <a:off x="640080" y="1097280"/>
            <a:ext cx="4846200" cy="29553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colori (poco utile qui)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aes(workshop,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Stacked: impilate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aes(gender,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geom_bar(position = 'stack')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Fill: altezze uguali (proporzioni)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aes(gender,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geom_bar(position = 'fill')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Dodge: affiancate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aes(gender,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geom_bar(position = 'dodge')</a:t>
            </a:r>
            <a:endParaRPr/>
          </a:p>
        </p:txBody>
      </p:sp>
      <p:pic>
        <p:nvPicPr>
          <p:cNvPr id="1095" name="Google Shape;1095;g3ad078e7a43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9876" y="4320800"/>
            <a:ext cx="2502450" cy="222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g3ad078e7a43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8150" y="4366975"/>
            <a:ext cx="2441501" cy="212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g3ad078e7a43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375" y="4230005"/>
            <a:ext cx="2870397" cy="250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g3ad078e7a43_0_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9642" y="1375567"/>
            <a:ext cx="2132176" cy="18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d078e7a43_0_75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Scala di Grigi e Facet</a:t>
            </a:r>
            <a:endParaRPr/>
          </a:p>
        </p:txBody>
      </p:sp>
      <p:sp>
        <p:nvSpPr>
          <p:cNvPr id="1104" name="Google Shape;1104;g3ad078e7a43_0_75"/>
          <p:cNvSpPr txBox="1"/>
          <p:nvPr/>
        </p:nvSpPr>
        <p:spPr>
          <a:xfrm>
            <a:off x="640080" y="1097280"/>
            <a:ext cx="5029200" cy="159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Scala di grigi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aes(gender, fill = 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geom_bar(position = 'dodge')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scale_fill_grey(start = 0, end = 1)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Facet: grafici separati per gruppo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 aes(workshop))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facet_grid(gender ~ .)</a:t>
            </a:r>
            <a:endParaRPr/>
          </a:p>
        </p:txBody>
      </p:sp>
      <p:sp>
        <p:nvSpPr>
          <p:cNvPr id="1105" name="Google Shape;1105;g3ad078e7a43_0_75"/>
          <p:cNvSpPr txBox="1"/>
          <p:nvPr/>
        </p:nvSpPr>
        <p:spPr>
          <a:xfrm>
            <a:off x="719805" y="5644705"/>
            <a:ext cx="7863900" cy="951600"/>
          </a:xfrm>
          <a:prstGeom prst="rect">
            <a:avLst/>
          </a:prstGeom>
          <a:solidFill>
            <a:srgbClr val="FFFAE6"/>
          </a:solidFill>
          <a:ln cap="flat" cmpd="sng" w="1905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Facet Grid Formula: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facet_grid(rows ~ columns)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gender ~ . = righe per gender, nessuna colonna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. ~ workshop = nessuna riga, colonne per workshop</a:t>
            </a:r>
            <a:endParaRPr/>
          </a:p>
        </p:txBody>
      </p:sp>
      <p:pic>
        <p:nvPicPr>
          <p:cNvPr id="1106" name="Google Shape;1106;g3ad078e7a43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75" y="2842680"/>
            <a:ext cx="3000957" cy="264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g3ad078e7a43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657" y="2959020"/>
            <a:ext cx="2933278" cy="253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ad078e7a43_0_83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Istogrammi e Densità</a:t>
            </a:r>
            <a:endParaRPr/>
          </a:p>
        </p:txBody>
      </p:sp>
      <p:sp>
        <p:nvSpPr>
          <p:cNvPr id="1113" name="Google Shape;1113;g3ad078e7a43_0_83"/>
          <p:cNvSpPr txBox="1"/>
          <p:nvPr/>
        </p:nvSpPr>
        <p:spPr>
          <a:xfrm>
            <a:off x="640080" y="1097280"/>
            <a:ext cx="5029200" cy="2652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Istogramma base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 aes(posttest))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geom_histogram(color = 'white')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binwidth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 aes(posttest))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geom_histogram(binwidth = 0.5)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Densità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 aes(posttest))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geom_density()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Combinati con rug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geom_histogram(aes(posttest, ..density..))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geom_density(aes(posttest))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geom_rug(aes(posttest))</a:t>
            </a:r>
            <a:endParaRPr/>
          </a:p>
        </p:txBody>
      </p:sp>
      <p:sp>
        <p:nvSpPr>
          <p:cNvPr id="1114" name="Google Shape;1114;g3ad078e7a43_0_83"/>
          <p:cNvSpPr txBox="1"/>
          <p:nvPr/>
        </p:nvSpPr>
        <p:spPr>
          <a:xfrm>
            <a:off x="5943600" y="1097280"/>
            <a:ext cx="25602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[GGhist.png]</a:t>
            </a:r>
            <a:endParaRPr/>
          </a:p>
        </p:txBody>
      </p:sp>
      <p:sp>
        <p:nvSpPr>
          <p:cNvPr id="1115" name="Google Shape;1115;g3ad078e7a43_0_83"/>
          <p:cNvSpPr txBox="1"/>
          <p:nvPr/>
        </p:nvSpPr>
        <p:spPr>
          <a:xfrm>
            <a:off x="5943600" y="3291840"/>
            <a:ext cx="2560200" cy="4002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[GGhistDensity.png</a:t>
            </a:r>
            <a:b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combinato]</a:t>
            </a:r>
            <a:endParaRPr/>
          </a:p>
        </p:txBody>
      </p:sp>
      <p:pic>
        <p:nvPicPr>
          <p:cNvPr id="1116" name="Google Shape;1116;g3ad078e7a43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075" y="3927305"/>
            <a:ext cx="3305248" cy="280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ad078e7a43_0_90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Scatter Plot e Linee</a:t>
            </a:r>
            <a:endParaRPr/>
          </a:p>
        </p:txBody>
      </p:sp>
      <p:sp>
        <p:nvSpPr>
          <p:cNvPr id="1122" name="Google Shape;1122;g3ad078e7a43_0_90"/>
          <p:cNvSpPr txBox="1"/>
          <p:nvPr/>
        </p:nvSpPr>
        <p:spPr>
          <a:xfrm>
            <a:off x="640080" y="1097280"/>
            <a:ext cx="4572000" cy="2198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Scatter plot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aes(pretest,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geom_point()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linea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aes(pretest,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geom_line()  # ordina x automaticamente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Path (non ordina)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aes(pretest,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geom_path()</a:t>
            </a:r>
            <a:endParaRPr/>
          </a:p>
        </p:txBody>
      </p:sp>
      <p:sp>
        <p:nvSpPr>
          <p:cNvPr id="1123" name="Google Shape;1123;g3ad078e7a43_0_90"/>
          <p:cNvSpPr txBox="1"/>
          <p:nvPr/>
        </p:nvSpPr>
        <p:spPr>
          <a:xfrm>
            <a:off x="5486400" y="1097280"/>
            <a:ext cx="30174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[GGScatterPoint.png]</a:t>
            </a:r>
            <a:endParaRPr/>
          </a:p>
        </p:txBody>
      </p:sp>
      <p:sp>
        <p:nvSpPr>
          <p:cNvPr id="1124" name="Google Shape;1124;g3ad078e7a43_0_90"/>
          <p:cNvSpPr txBox="1"/>
          <p:nvPr/>
        </p:nvSpPr>
        <p:spPr>
          <a:xfrm>
            <a:off x="5486400" y="2926080"/>
            <a:ext cx="30174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[GGScatterLine.png]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ad078e7a43_0_97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Linee di Adattamento</a:t>
            </a:r>
            <a:endParaRPr/>
          </a:p>
        </p:txBody>
      </p:sp>
      <p:sp>
        <p:nvSpPr>
          <p:cNvPr id="1130" name="Google Shape;1130;g3ad078e7a43_0_97"/>
          <p:cNvSpPr txBox="1"/>
          <p:nvPr/>
        </p:nvSpPr>
        <p:spPr>
          <a:xfrm>
            <a:off x="640080" y="1097280"/>
            <a:ext cx="5029200" cy="2803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Lowess smoother (default)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aes(pretest,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geom_point()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geom_smooth()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Regressione lineare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aes(pretest,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geom_point()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geom_smooth(method = lm)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Per gruppo con shape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aes(pretest,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geom_smooth(aes(linetype = gender),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method = 'lm')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geom_point(aes(shape = gender))</a:t>
            </a:r>
            <a:endParaRPr/>
          </a:p>
        </p:txBody>
      </p:sp>
      <p:sp>
        <p:nvSpPr>
          <p:cNvPr id="1131" name="Google Shape;1131;g3ad078e7a43_0_97"/>
          <p:cNvSpPr txBox="1"/>
          <p:nvPr/>
        </p:nvSpPr>
        <p:spPr>
          <a:xfrm>
            <a:off x="5943600" y="1097280"/>
            <a:ext cx="2560200" cy="4002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[GGlowessCI.png</a:t>
            </a:r>
            <a:b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lowess]</a:t>
            </a:r>
            <a:endParaRPr/>
          </a:p>
        </p:txBody>
      </p:sp>
      <p:sp>
        <p:nvSpPr>
          <p:cNvPr id="1132" name="Google Shape;1132;g3ad078e7a43_0_97"/>
          <p:cNvSpPr txBox="1"/>
          <p:nvPr/>
        </p:nvSpPr>
        <p:spPr>
          <a:xfrm>
            <a:off x="5943600" y="3291840"/>
            <a:ext cx="2560200" cy="4002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[GGregShape.png</a:t>
            </a:r>
            <a:b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per gruppo]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ad078e7a43_0_104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Boxplot in ggplot2</a:t>
            </a:r>
            <a:endParaRPr/>
          </a:p>
        </p:txBody>
      </p:sp>
      <p:sp>
        <p:nvSpPr>
          <p:cNvPr id="1138" name="Google Shape;1138;g3ad078e7a43_0_104"/>
          <p:cNvSpPr txBox="1"/>
          <p:nvPr/>
        </p:nvSpPr>
        <p:spPr>
          <a:xfrm>
            <a:off x="640080" y="1097280"/>
            <a:ext cx="4755000" cy="1895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Boxplot base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aes(workshop,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geom_boxplot()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 punti raw sovrapposti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aes(workshop, posttest))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geom_point()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geom_boxplot()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Nota: punti centrali nascosti dal box</a:t>
            </a:r>
            <a:endParaRPr/>
          </a:p>
        </p:txBody>
      </p:sp>
      <p:sp>
        <p:nvSpPr>
          <p:cNvPr id="1139" name="Google Shape;1139;g3ad078e7a43_0_104"/>
          <p:cNvSpPr txBox="1"/>
          <p:nvPr/>
        </p:nvSpPr>
        <p:spPr>
          <a:xfrm>
            <a:off x="5669280" y="1097280"/>
            <a:ext cx="28347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[GGboxWorkshop.png]</a:t>
            </a:r>
            <a:endParaRPr/>
          </a:p>
        </p:txBody>
      </p:sp>
      <p:sp>
        <p:nvSpPr>
          <p:cNvPr id="1140" name="Google Shape;1140;g3ad078e7a43_0_104"/>
          <p:cNvSpPr txBox="1"/>
          <p:nvPr/>
        </p:nvSpPr>
        <p:spPr>
          <a:xfrm>
            <a:off x="640080" y="4023360"/>
            <a:ext cx="4755000" cy="26160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L'ordine dei layer conta! Punti prima → box sopra (nasconde centrali)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ad078e7a43_0_111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Titoli e Etichette</a:t>
            </a:r>
            <a:endParaRPr/>
          </a:p>
        </p:txBody>
      </p:sp>
      <p:sp>
        <p:nvSpPr>
          <p:cNvPr id="1146" name="Google Shape;1146;g3ad078e7a43_0_111"/>
          <p:cNvSpPr txBox="1"/>
          <p:nvPr/>
        </p:nvSpPr>
        <p:spPr>
          <a:xfrm>
            <a:off x="640080" y="1097280"/>
            <a:ext cx="5029200" cy="2349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ggplot(mydata100,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aes(workshop, ..count..))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labs(title = 'Workshop Attendance',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x = 'Statistics Package\nWorkshops',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y = 'Count')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\n = new line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Personalizzazione avanzata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ggplot(...)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geom_bar()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labs(title = 'Titolo')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theme(plot.title =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 element_text(size = rel(2.5)))</a:t>
            </a:r>
            <a:endParaRPr/>
          </a:p>
        </p:txBody>
      </p:sp>
      <p:sp>
        <p:nvSpPr>
          <p:cNvPr id="1147" name="Google Shape;1147;g3ad078e7a43_0_111"/>
          <p:cNvSpPr txBox="1"/>
          <p:nvPr/>
        </p:nvSpPr>
        <p:spPr>
          <a:xfrm>
            <a:off x="5943600" y="1097280"/>
            <a:ext cx="2560200" cy="4002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[Con titolo</a:t>
            </a:r>
            <a:b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e labels]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ad078e7a43_0_117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Gestione Dataset Grandi</a:t>
            </a:r>
            <a:endParaRPr/>
          </a:p>
        </p:txBody>
      </p:sp>
      <p:sp>
        <p:nvSpPr>
          <p:cNvPr id="1153" name="Google Shape;1153;g3ad078e7a43_0_117"/>
          <p:cNvSpPr txBox="1"/>
          <p:nvPr/>
        </p:nvSpPr>
        <p:spPr>
          <a:xfrm>
            <a:off x="640080" y="1097280"/>
            <a:ext cx="5029200" cy="2198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Trasparenza (alpha)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ggplot(temp, aes(pretest2, posttest2),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size = 2,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     position = position_jitter(x=2, y=2))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geom_jitter(colour = alpha('black', 0.15))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Contorni densità 2D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ggplot(temp, aes(x = pretest2, y = posttest2))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geom_point(size = 1)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geom_density2d()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# Hexbin plot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ggplot(temp, aes(pretest2, posttest2)) +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 geom_hex(bins = 30)</a:t>
            </a:r>
            <a:endParaRPr/>
          </a:p>
        </p:txBody>
      </p:sp>
      <p:sp>
        <p:nvSpPr>
          <p:cNvPr id="1154" name="Google Shape;1154;g3ad078e7a43_0_117"/>
          <p:cNvSpPr txBox="1"/>
          <p:nvPr/>
        </p:nvSpPr>
        <p:spPr>
          <a:xfrm>
            <a:off x="5943600" y="1097280"/>
            <a:ext cx="25602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[transparency]</a:t>
            </a:r>
            <a:endParaRPr/>
          </a:p>
        </p:txBody>
      </p:sp>
      <p:sp>
        <p:nvSpPr>
          <p:cNvPr id="1155" name="Google Shape;1155;g3ad078e7a43_0_117"/>
          <p:cNvSpPr txBox="1"/>
          <p:nvPr/>
        </p:nvSpPr>
        <p:spPr>
          <a:xfrm>
            <a:off x="5943600" y="2926080"/>
            <a:ext cx="2560200" cy="246300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787878"/>
                </a:solidFill>
                <a:latin typeface="Calibri"/>
                <a:ea typeface="Calibri"/>
                <a:cs typeface="Calibri"/>
                <a:sym typeface="Calibri"/>
              </a:rPr>
              <a:t>[hexbin]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ad078e7a43_0_124"/>
          <p:cNvSpPr txBox="1"/>
          <p:nvPr/>
        </p:nvSpPr>
        <p:spPr>
          <a:xfrm>
            <a:off x="457200" y="365760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Riepilogo ggplot2</a:t>
            </a:r>
            <a:endParaRPr/>
          </a:p>
        </p:txBody>
      </p:sp>
      <p:sp>
        <p:nvSpPr>
          <p:cNvPr id="1161" name="Google Shape;1161;g3ad078e7a43_0_124"/>
          <p:cNvSpPr txBox="1"/>
          <p:nvPr/>
        </p:nvSpPr>
        <p:spPr>
          <a:xfrm>
            <a:off x="640080" y="118872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GEOMS Principali:</a:t>
            </a:r>
            <a:endParaRPr/>
          </a:p>
        </p:txBody>
      </p:sp>
      <p:sp>
        <p:nvSpPr>
          <p:cNvPr id="1162" name="Google Shape;1162;g3ad078e7a43_0_124"/>
          <p:cNvSpPr txBox="1"/>
          <p:nvPr/>
        </p:nvSpPr>
        <p:spPr>
          <a:xfrm>
            <a:off x="640080" y="1508760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geom_bar(), geom_histogram(), geom_density()</a:t>
            </a:r>
            <a:endParaRPr/>
          </a:p>
        </p:txBody>
      </p:sp>
      <p:sp>
        <p:nvSpPr>
          <p:cNvPr id="1163" name="Google Shape;1163;g3ad078e7a43_0_124"/>
          <p:cNvSpPr txBox="1"/>
          <p:nvPr/>
        </p:nvSpPr>
        <p:spPr>
          <a:xfrm>
            <a:off x="640080" y="1828800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geom_point(), geom_line(), geom_path()</a:t>
            </a:r>
            <a:endParaRPr/>
          </a:p>
        </p:txBody>
      </p:sp>
      <p:sp>
        <p:nvSpPr>
          <p:cNvPr id="1164" name="Google Shape;1164;g3ad078e7a43_0_124"/>
          <p:cNvSpPr txBox="1"/>
          <p:nvPr/>
        </p:nvSpPr>
        <p:spPr>
          <a:xfrm>
            <a:off x="640080" y="2148840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geom_boxplot(), geom_smooth()</a:t>
            </a:r>
            <a:endParaRPr/>
          </a:p>
        </p:txBody>
      </p:sp>
      <p:sp>
        <p:nvSpPr>
          <p:cNvPr id="1165" name="Google Shape;1165;g3ad078e7a43_0_124"/>
          <p:cNvSpPr txBox="1"/>
          <p:nvPr/>
        </p:nvSpPr>
        <p:spPr>
          <a:xfrm>
            <a:off x="640080" y="2468880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geom_jitter(), geom_hex(), geom_density2d()</a:t>
            </a:r>
            <a:endParaRPr/>
          </a:p>
        </p:txBody>
      </p:sp>
      <p:sp>
        <p:nvSpPr>
          <p:cNvPr id="1166" name="Google Shape;1166;g3ad078e7a43_0_124"/>
          <p:cNvSpPr txBox="1"/>
          <p:nvPr/>
        </p:nvSpPr>
        <p:spPr>
          <a:xfrm>
            <a:off x="640080" y="2788920"/>
            <a:ext cx="786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3ad078e7a43_0_124"/>
          <p:cNvSpPr txBox="1"/>
          <p:nvPr/>
        </p:nvSpPr>
        <p:spPr>
          <a:xfrm>
            <a:off x="640080" y="31089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🎨 AESTHETICS:</a:t>
            </a:r>
            <a:endParaRPr/>
          </a:p>
        </p:txBody>
      </p:sp>
      <p:sp>
        <p:nvSpPr>
          <p:cNvPr id="1168" name="Google Shape;1168;g3ad078e7a43_0_124"/>
          <p:cNvSpPr txBox="1"/>
          <p:nvPr/>
        </p:nvSpPr>
        <p:spPr>
          <a:xfrm>
            <a:off x="640080" y="3429000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x, y, fill, color, shape, size, alpha, linetype</a:t>
            </a:r>
            <a:endParaRPr/>
          </a:p>
        </p:txBody>
      </p:sp>
      <p:sp>
        <p:nvSpPr>
          <p:cNvPr id="1169" name="Google Shape;1169;g3ad078e7a43_0_124"/>
          <p:cNvSpPr txBox="1"/>
          <p:nvPr/>
        </p:nvSpPr>
        <p:spPr>
          <a:xfrm>
            <a:off x="640080" y="3749040"/>
            <a:ext cx="786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g3ad078e7a43_0_124"/>
          <p:cNvSpPr txBox="1"/>
          <p:nvPr/>
        </p:nvSpPr>
        <p:spPr>
          <a:xfrm>
            <a:off x="640080" y="406908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⚙️ FUNZIONI UTILI:</a:t>
            </a:r>
            <a:endParaRPr/>
          </a:p>
        </p:txBody>
      </p:sp>
      <p:sp>
        <p:nvSpPr>
          <p:cNvPr id="1171" name="Google Shape;1171;g3ad078e7a43_0_124"/>
          <p:cNvSpPr txBox="1"/>
          <p:nvPr/>
        </p:nvSpPr>
        <p:spPr>
          <a:xfrm>
            <a:off x="640080" y="4389120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coord_flip(), coord_polar()</a:t>
            </a:r>
            <a:endParaRPr/>
          </a:p>
        </p:txBody>
      </p:sp>
      <p:sp>
        <p:nvSpPr>
          <p:cNvPr id="1172" name="Google Shape;1172;g3ad078e7a43_0_124"/>
          <p:cNvSpPr txBox="1"/>
          <p:nvPr/>
        </p:nvSpPr>
        <p:spPr>
          <a:xfrm>
            <a:off x="640080" y="4709159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facet_grid(rows ~ cols)</a:t>
            </a:r>
            <a:endParaRPr/>
          </a:p>
        </p:txBody>
      </p:sp>
      <p:sp>
        <p:nvSpPr>
          <p:cNvPr id="1173" name="Google Shape;1173;g3ad078e7a43_0_124"/>
          <p:cNvSpPr txBox="1"/>
          <p:nvPr/>
        </p:nvSpPr>
        <p:spPr>
          <a:xfrm>
            <a:off x="640080" y="5029199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scale_fill_grey(), scale_fill_*</a:t>
            </a:r>
            <a:endParaRPr/>
          </a:p>
        </p:txBody>
      </p:sp>
      <p:sp>
        <p:nvSpPr>
          <p:cNvPr id="1174" name="Google Shape;1174;g3ad078e7a43_0_124"/>
          <p:cNvSpPr txBox="1"/>
          <p:nvPr/>
        </p:nvSpPr>
        <p:spPr>
          <a:xfrm>
            <a:off x="640080" y="5349239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labs(title, x, y)</a:t>
            </a:r>
            <a:endParaRPr/>
          </a:p>
        </p:txBody>
      </p:sp>
      <p:sp>
        <p:nvSpPr>
          <p:cNvPr id="1175" name="Google Shape;1175;g3ad078e7a43_0_124"/>
          <p:cNvSpPr txBox="1"/>
          <p:nvPr/>
        </p:nvSpPr>
        <p:spPr>
          <a:xfrm>
            <a:off x="640080" y="5669279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theme()</a:t>
            </a:r>
            <a:endParaRPr/>
          </a:p>
        </p:txBody>
      </p:sp>
      <p:sp>
        <p:nvSpPr>
          <p:cNvPr id="1176" name="Google Shape;1176;g3ad078e7a43_0_124"/>
          <p:cNvSpPr txBox="1"/>
          <p:nvPr/>
        </p:nvSpPr>
        <p:spPr>
          <a:xfrm>
            <a:off x="640080" y="5760720"/>
            <a:ext cx="7863900" cy="276900"/>
          </a:xfrm>
          <a:prstGeom prst="rect">
            <a:avLst/>
          </a:prstGeom>
          <a:solidFill>
            <a:srgbClr val="FFFAE6"/>
          </a:solidFill>
          <a:ln cap="flat" cmpd="sng" w="25400">
            <a:solidFill>
              <a:srgbClr val="C89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ggplot2: Layer su layer con + | Infinitamente personalizzabile | Faceting facile!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7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Cosa abbiamo imparato - Parte 1</a:t>
            </a:r>
            <a:endParaRPr/>
          </a:p>
        </p:txBody>
      </p:sp>
      <p:sp>
        <p:nvSpPr>
          <p:cNvPr id="1182" name="Google Shape;1182;p37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R e RStudio: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Installazione e interfaccia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Working Directory: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Cartella di lavoro fisica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Workspace: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Memoria virtuale (RAM)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Librerie: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Estendere le funzionalità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Variabili: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Assegnazione e tipi di dati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Commenti: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Documentare il codice con #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Dati mancanti: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e NaN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8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Cosa abbiamo imparato - Parte 2</a:t>
            </a:r>
            <a:endParaRPr/>
          </a:p>
        </p:txBody>
      </p:sp>
      <p:sp>
        <p:nvSpPr>
          <p:cNvPr id="1188" name="Google Shape;1188;p38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Strutture dati: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Vettori, matrici, data frame, factor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Manipolazione: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Indicizzazione, filtri, coercizione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Funzioni personalizzate: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Creare proprie funzioni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Import/Export: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Leggere e salvare file CSV, Excel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Statistiche descrittive: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mean, sd, cor, quantile...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Grafici base: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plot, hist, boxplot...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7800"/>
                </a:solidFill>
                <a:latin typeface="Calibri"/>
                <a:ea typeface="Calibri"/>
                <a:cs typeface="Calibri"/>
                <a:sym typeface="Calibri"/>
              </a:rPr>
              <a:t>✓ ggplot2: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grafico avanzato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39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Risorse per Approfondire</a:t>
            </a:r>
            <a:endParaRPr/>
          </a:p>
        </p:txBody>
      </p:sp>
      <p:sp>
        <p:nvSpPr>
          <p:cNvPr id="1194" name="Google Shape;1194;p39"/>
          <p:cNvSpPr txBox="1"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Documentazione ufficiale: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CRAN: https://cran.r-project.org/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RStudio: https://posit.co/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ggplot2: https://ggplot2.tidyverse.org/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Libri consigliati: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"R for Data Science" - Hadley Wickham (gratuito online)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"The Art of R Programming" - Norman Matloff</a:t>
            </a:r>
            <a:endParaRPr/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Comunità e supporto: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Overflow (tag: r, ggplot2)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RStudio Community Forum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DataCamp, Coursera - corsi online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0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Grazie per l'attenzione!</a:t>
            </a:r>
            <a:endParaRPr/>
          </a:p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Sviluppare competenze in R significa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imparare a parlare la lingua dei dati</a:t>
            </a:r>
            <a:endParaRPr/>
          </a:p>
          <a:p>
            <a:pPr indent="0" lvl="0" marL="0" marR="0" rtl="0" algn="ctr">
              <a:spcBef>
                <a:spcPts val="3000"/>
              </a:spcBef>
              <a:spcAft>
                <a:spcPts val="0"/>
              </a:spcAft>
              <a:buNone/>
            </a:pPr>
            <a:br>
              <a:rPr b="1"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🚀 La pratica è fondamentale!</a:t>
            </a:r>
            <a:endParaRPr/>
          </a:p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br>
              <a:rPr lang="en-US" sz="2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Domande?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